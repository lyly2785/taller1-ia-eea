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5" d="100"/>
          <a:sy n="155" d="100"/>
        </p:scale>
        <p:origin x="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38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Portada. Compartir pantalla y saludar al grupo. Verificar que todos tengan el link de Meet y acceso a ChatGPT y Claude antes de avanzar.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Leer los bloques en voz alta. Aclarar que hoy el foco es USAR la IA con datos reales, no solo entenderla.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Kahoot. Compartir el PIN en pantalla. Dar 30 segundos para que entren. Si alguien tiene problema, continúa sin ellos — no detenerse más de 1 minuto. Anotar mentalmente quién falla más preguntas conceptuales para reforzar en la práctica.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Configuración ChatGPT. Pegar el texto en pantalla. Dar 3 minutos para que lo copien. Preguntar: '¿Todos guardaron?' antes de pasar.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Configuración Claude. Si alguien no tiene cuenta de Claude: puede usar claude.ai gratis. El Project es clave — sin él tienen que repetir el contexto cada vez. Dar 5 minutos para esta parte.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Ejecutar ambos prompts EN VIVO en pantalla. Primero el genérico en ChatGPT, luego el situacional. Dejar que el grupo compare sin que tú opines primero. Preguntar: '¿Cuál enviarían hoy sin editar?'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Estructura. Esta es la diapositiva de referencia. Decirles: 'La próxima vez que usen IA para un mensaje, recuerden estas 4 partes. Si falta una, el resultado va a ser genérico.'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Práctica. Compartir el archivo CSV por el chat de Meet antes de esta diapositiva. Dar 25 minutos. Circular por el chat para ver quién está bloqueado. Si alguien no sabe qué fila elegir: 'Elige la que más se parezca a lo que atiendes hoy.'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Comparación. Pedir a 2-3 voluntarios que compartan su output en pantalla. Tú no opinas primero — preguntar al grupo: '¿Cuál usarían? ¿Por qué?' El criterio de elección es el aprendizaje, no la herramienta.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Edición. Este es el punto donde el grupo distingue usar IA de depender de IA. Dar 10 minutos. William trabaja en segunda iteración mientras los demás editan su primer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Demo avanzada. Ejecutar solo si hay tiempo al final. Presentarlo como 'lo que sigue' — conecta con la fase de datos sin decirlo explícitamente. Preguntar al grupo: '¿Cuánto tiempo les ahorraría esto por semana?'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Traspaso de contexto. Explicar en 2 minutos. No es necesario practicarlo hoy — es un recurso que se llevan. El punto clave: las IAs no se 'hablan' entre ellas, tú eres el puente.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Cierre. Cada participante declara en voz alta los 3 puntos. Tú los anotas para el seguimiento en A2. Si alguien dice 'voy a intentar' — pedirle que diga un número. El compromiso concreto es el entregable de esta sesión.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B3A"/>
        </a:solidFill>
        <a:effectLst/>
      </p:bgPr>
    </p:bg>
    <p:spTree>
      <p:nvGrpSpPr>
        <p:cNvPr id="1" name=""/>
        <p:cNvGrpSpPr/>
        <p:nvPr/>
      </p:nvGrpSpPr>
      <p:grpSpPr>
        <a:xfrm>
          <a:off x="0" y="0"/>
          <a:ext cx="0" cy="0"/>
          <a:chOff x="0" y="0"/>
          <a:chExt cx="0" cy="0"/>
        </a:xfrm>
      </p:grpSpPr>
      <p:sp>
        <p:nvSpPr>
          <p:cNvPr id="2" name="Shape 0"/>
          <p:cNvSpPr/>
          <p:nvPr/>
        </p:nvSpPr>
        <p:spPr>
          <a:xfrm>
            <a:off x="7132320" y="-822960"/>
            <a:ext cx="2560320" cy="2560320"/>
          </a:xfrm>
          <a:prstGeom prst="ellipse">
            <a:avLst/>
          </a:prstGeom>
          <a:solidFill>
            <a:srgbClr val="1E2D6B"/>
          </a:solidFill>
          <a:ln w="12700">
            <a:solidFill>
              <a:srgbClr val="1E2D6B"/>
            </a:solidFill>
            <a:prstDash val="solid"/>
          </a:ln>
        </p:spPr>
        <p:txBody>
          <a:bodyPr/>
          <a:lstStyle/>
          <a:p>
            <a:endParaRPr lang="es-PE"/>
          </a:p>
        </p:txBody>
      </p:sp>
      <p:sp>
        <p:nvSpPr>
          <p:cNvPr id="3" name="Shape 1"/>
          <p:cNvSpPr/>
          <p:nvPr/>
        </p:nvSpPr>
        <p:spPr>
          <a:xfrm>
            <a:off x="8046720" y="731520"/>
            <a:ext cx="1005840" cy="1005840"/>
          </a:xfrm>
          <a:prstGeom prst="ellipse">
            <a:avLst/>
          </a:prstGeom>
          <a:solidFill>
            <a:srgbClr val="F5C842"/>
          </a:solidFill>
          <a:ln w="12700">
            <a:solidFill>
              <a:srgbClr val="F5C842"/>
            </a:solidFill>
            <a:prstDash val="solid"/>
          </a:ln>
        </p:spPr>
        <p:txBody>
          <a:bodyPr/>
          <a:lstStyle/>
          <a:p>
            <a:endParaRPr lang="es-PE"/>
          </a:p>
        </p:txBody>
      </p:sp>
      <p:pic>
        <p:nvPicPr>
          <p:cNvPr id="4" name="Image 0" descr="/mnt/project/LOGO_4.png"/>
          <p:cNvPicPr>
            <a:picLocks noChangeAspect="1"/>
          </p:cNvPicPr>
          <p:nvPr/>
        </p:nvPicPr>
        <p:blipFill>
          <a:blip r:embed="rId3"/>
          <a:stretch>
            <a:fillRect/>
          </a:stretch>
        </p:blipFill>
        <p:spPr>
          <a:xfrm>
            <a:off x="8092440" y="777240"/>
            <a:ext cx="685800" cy="685800"/>
          </a:xfrm>
          <a:prstGeom prst="ellipse">
            <a:avLst/>
          </a:prstGeom>
        </p:spPr>
      </p:pic>
      <p:sp>
        <p:nvSpPr>
          <p:cNvPr id="5" name="Text 2"/>
          <p:cNvSpPr/>
          <p:nvPr/>
        </p:nvSpPr>
        <p:spPr>
          <a:xfrm>
            <a:off x="411480" y="292608"/>
            <a:ext cx="64008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VITAMINAS TECNOLÓGICAS  ·  CAPACITACIÓN IA</a:t>
            </a:r>
            <a:endParaRPr lang="en-US" sz="900" dirty="0"/>
          </a:p>
        </p:txBody>
      </p:sp>
      <p:sp>
        <p:nvSpPr>
          <p:cNvPr id="6" name="Text 3"/>
          <p:cNvSpPr/>
          <p:nvPr/>
        </p:nvSpPr>
        <p:spPr>
          <a:xfrm>
            <a:off x="411480" y="1188720"/>
            <a:ext cx="77724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Taller de IA Aplicada al Trabajo</a:t>
            </a:r>
            <a:endParaRPr lang="en-US" sz="4400" dirty="0"/>
          </a:p>
        </p:txBody>
      </p:sp>
      <p:sp>
        <p:nvSpPr>
          <p:cNvPr id="7" name="Text 4"/>
          <p:cNvSpPr/>
          <p:nvPr/>
        </p:nvSpPr>
        <p:spPr>
          <a:xfrm>
            <a:off x="411480" y="2304288"/>
            <a:ext cx="7315200" cy="502920"/>
          </a:xfrm>
          <a:prstGeom prst="rect">
            <a:avLst/>
          </a:prstGeom>
          <a:noFill/>
          <a:ln/>
        </p:spPr>
        <p:txBody>
          <a:bodyPr wrap="square" lIns="0" tIns="0" rIns="0" bIns="0" rtlCol="0" anchor="ctr"/>
          <a:lstStyle/>
          <a:p>
            <a:pPr marL="0" indent="0">
              <a:buNone/>
            </a:pPr>
            <a:r>
              <a:rPr lang="en-US" sz="2200" dirty="0">
                <a:solidFill>
                  <a:srgbClr val="F5C842"/>
                </a:solidFill>
                <a:latin typeface="Calibri" pitchFamily="34" charset="0"/>
                <a:ea typeface="Calibri" pitchFamily="34" charset="-122"/>
                <a:cs typeface="Calibri" pitchFamily="34" charset="-120"/>
              </a:rPr>
              <a:t>Sesión A1  ·  IA para Ventas y Soporte</a:t>
            </a:r>
            <a:endParaRPr lang="en-US" sz="2200" dirty="0"/>
          </a:p>
        </p:txBody>
      </p:sp>
      <p:sp>
        <p:nvSpPr>
          <p:cNvPr id="8" name="Text 5"/>
          <p:cNvSpPr/>
          <p:nvPr/>
        </p:nvSpPr>
        <p:spPr>
          <a:xfrm>
            <a:off x="411480" y="2852928"/>
            <a:ext cx="7315200" cy="320040"/>
          </a:xfrm>
          <a:prstGeom prst="rect">
            <a:avLst/>
          </a:prstGeom>
          <a:noFill/>
          <a:ln/>
        </p:spPr>
        <p:txBody>
          <a:bodyPr wrap="square" lIns="0" tIns="0" rIns="0" bIns="0" rtlCol="0" anchor="ctr"/>
          <a:lstStyle/>
          <a:p>
            <a:pPr marL="0" indent="0">
              <a:buNone/>
            </a:pPr>
            <a:r>
              <a:rPr lang="en-US" sz="1400" dirty="0">
                <a:solidFill>
                  <a:srgbClr val="C9CEE8"/>
                </a:solidFill>
                <a:latin typeface="Calibri" pitchFamily="34" charset="0"/>
                <a:ea typeface="Calibri" pitchFamily="34" charset="-122"/>
                <a:cs typeface="Calibri" pitchFamily="34" charset="-120"/>
              </a:rPr>
              <a:t>Elite Expert Academy  ·  Grupo A — Comercial y Soporte  ·  90 min</a:t>
            </a:r>
            <a:endParaRPr lang="en-US" sz="1400" dirty="0"/>
          </a:p>
        </p:txBody>
      </p:sp>
      <p:sp>
        <p:nvSpPr>
          <p:cNvPr id="9" name="Shape 6"/>
          <p:cNvSpPr/>
          <p:nvPr/>
        </p:nvSpPr>
        <p:spPr>
          <a:xfrm>
            <a:off x="411480" y="3840480"/>
            <a:ext cx="384048" cy="384048"/>
          </a:xfrm>
          <a:prstGeom prst="ellipse">
            <a:avLst/>
          </a:prstGeom>
          <a:solidFill>
            <a:srgbClr val="F5C842"/>
          </a:solidFill>
          <a:ln w="12700">
            <a:solidFill>
              <a:srgbClr val="F5C842"/>
            </a:solidFill>
            <a:prstDash val="solid"/>
          </a:ln>
        </p:spPr>
        <p:txBody>
          <a:bodyPr/>
          <a:lstStyle/>
          <a:p>
            <a:endParaRPr lang="es-PE"/>
          </a:p>
        </p:txBody>
      </p:sp>
      <p:sp>
        <p:nvSpPr>
          <p:cNvPr id="10" name="Text 7"/>
          <p:cNvSpPr/>
          <p:nvPr/>
        </p:nvSpPr>
        <p:spPr>
          <a:xfrm>
            <a:off x="420624" y="3858768"/>
            <a:ext cx="365760" cy="347472"/>
          </a:xfrm>
          <a:prstGeom prst="rect">
            <a:avLst/>
          </a:prstGeom>
          <a:noFill/>
          <a:ln/>
        </p:spPr>
        <p:txBody>
          <a:bodyPr wrap="square" lIns="0" tIns="0" rIns="0" bIns="0" rtlCol="0" anchor="ctr"/>
          <a:lstStyle/>
          <a:p>
            <a:pPr marL="0" indent="0" algn="ctr">
              <a:buNone/>
            </a:pPr>
            <a:r>
              <a:rPr lang="en-US" sz="1800" dirty="0">
                <a:solidFill>
                  <a:srgbClr val="121B3A"/>
                </a:solidFill>
              </a:rPr>
              <a:t>⚙</a:t>
            </a:r>
            <a:endParaRPr lang="en-US" sz="1800" dirty="0"/>
          </a:p>
        </p:txBody>
      </p:sp>
      <p:sp>
        <p:nvSpPr>
          <p:cNvPr id="11" name="Text 8"/>
          <p:cNvSpPr/>
          <p:nvPr/>
        </p:nvSpPr>
        <p:spPr>
          <a:xfrm>
            <a:off x="868680" y="3867912"/>
            <a:ext cx="7315200" cy="320040"/>
          </a:xfrm>
          <a:prstGeom prst="rect">
            <a:avLst/>
          </a:prstGeom>
          <a:noFill/>
          <a:ln/>
        </p:spPr>
        <p:txBody>
          <a:bodyPr wrap="square" lIns="0" tIns="0" rIns="0" bIns="0" rtlCol="0" anchor="ctr"/>
          <a:lstStyle/>
          <a:p>
            <a:pPr marL="0" indent="0">
              <a:buNone/>
            </a:pPr>
            <a:r>
              <a:rPr lang="en-US" sz="1200" dirty="0">
                <a:solidFill>
                  <a:srgbClr val="8A94C4"/>
                </a:solidFill>
                <a:latin typeface="Calibri" pitchFamily="34" charset="0"/>
                <a:ea typeface="Calibri" pitchFamily="34" charset="-122"/>
                <a:cs typeface="Calibri" pitchFamily="34" charset="-120"/>
              </a:rPr>
              <a:t>Instructora: Liliana Bayona Castañeda  ·  Vitaminas Tecnológicas  ·  Ref. TEM-EEA-001-2026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AGENDA DE LA SESIÓN</a:t>
            </a:r>
            <a:endParaRPr lang="en-US" sz="900" dirty="0"/>
          </a:p>
        </p:txBody>
      </p:sp>
      <p:sp>
        <p:nvSpPr>
          <p:cNvPr id="3" name="Text 1"/>
          <p:cNvSpPr/>
          <p:nvPr/>
        </p:nvSpPr>
        <p:spPr>
          <a:xfrm>
            <a:off x="411480" y="517500"/>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¿Qué vamos a recorrer hoy?</a:t>
            </a:r>
            <a:endParaRPr lang="en-US" sz="3200" dirty="0"/>
          </a:p>
        </p:txBody>
      </p:sp>
      <p:sp>
        <p:nvSpPr>
          <p:cNvPr id="4" name="Shape 2"/>
          <p:cNvSpPr/>
          <p:nvPr/>
        </p:nvSpPr>
        <p:spPr>
          <a:xfrm>
            <a:off x="411480" y="1453896"/>
            <a:ext cx="384048" cy="384048"/>
          </a:xfrm>
          <a:prstGeom prst="ellipse">
            <a:avLst/>
          </a:prstGeom>
          <a:solidFill>
            <a:srgbClr val="F7F7F9"/>
          </a:solidFill>
          <a:ln w="12700">
            <a:solidFill>
              <a:srgbClr val="E5E5EA"/>
            </a:solidFill>
            <a:prstDash val="solid"/>
          </a:ln>
        </p:spPr>
        <p:txBody>
          <a:bodyPr/>
          <a:lstStyle/>
          <a:p>
            <a:endParaRPr lang="es-PE"/>
          </a:p>
        </p:txBody>
      </p:sp>
      <p:sp>
        <p:nvSpPr>
          <p:cNvPr id="5" name="Text 3"/>
          <p:cNvSpPr/>
          <p:nvPr/>
        </p:nvSpPr>
        <p:spPr>
          <a:xfrm>
            <a:off x="411480" y="1444752"/>
            <a:ext cx="384048"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6" name="Text 4"/>
          <p:cNvSpPr/>
          <p:nvPr/>
        </p:nvSpPr>
        <p:spPr>
          <a:xfrm>
            <a:off x="914400" y="1417320"/>
            <a:ext cx="6400800" cy="246888"/>
          </a:xfrm>
          <a:prstGeom prst="rect">
            <a:avLst/>
          </a:prstGeom>
          <a:noFill/>
          <a:ln/>
        </p:spPr>
        <p:txBody>
          <a:bodyPr wrap="square" lIns="0" tIns="0" rIns="0" bIns="0" rtlCol="0" anchor="ctr"/>
          <a:lstStyle/>
          <a:p>
            <a:pPr marL="0" indent="0">
              <a:buNone/>
            </a:pPr>
            <a:r>
              <a:rPr lang="en-US" sz="1500" b="1" dirty="0">
                <a:solidFill>
                  <a:srgbClr val="121B3A"/>
                </a:solidFill>
                <a:latin typeface="Cambria" pitchFamily="34" charset="0"/>
                <a:ea typeface="Cambria" pitchFamily="34" charset="-122"/>
                <a:cs typeface="Cambria" pitchFamily="34" charset="-120"/>
              </a:rPr>
              <a:t>Kahoot de repaso — Sesión 0</a:t>
            </a:r>
            <a:endParaRPr lang="en-US" sz="1500" dirty="0"/>
          </a:p>
        </p:txBody>
      </p:sp>
      <p:sp>
        <p:nvSpPr>
          <p:cNvPr id="7" name="Text 5"/>
          <p:cNvSpPr/>
          <p:nvPr/>
        </p:nvSpPr>
        <p:spPr>
          <a:xfrm>
            <a:off x="914400" y="1664208"/>
            <a:ext cx="6400800" cy="20116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PIN: 01004434  ·  10 preguntas</a:t>
            </a:r>
            <a:endParaRPr lang="en-US" sz="1200" dirty="0"/>
          </a:p>
        </p:txBody>
      </p:sp>
      <p:sp>
        <p:nvSpPr>
          <p:cNvPr id="8" name="Text 6"/>
          <p:cNvSpPr/>
          <p:nvPr/>
        </p:nvSpPr>
        <p:spPr>
          <a:xfrm>
            <a:off x="6728662" y="1463040"/>
            <a:ext cx="960120" cy="246888"/>
          </a:xfrm>
          <a:prstGeom prst="rect">
            <a:avLst/>
          </a:prstGeom>
          <a:noFill/>
          <a:ln/>
        </p:spPr>
        <p:txBody>
          <a:bodyPr wrap="square" lIns="0" tIns="0" rIns="0" bIns="0" rtlCol="0" anchor="ctr"/>
          <a:lstStyle/>
          <a:p>
            <a:pPr marL="0" indent="0" algn="r">
              <a:buNone/>
            </a:pPr>
            <a:r>
              <a:rPr lang="en-US" sz="1400" b="1" dirty="0">
                <a:solidFill>
                  <a:srgbClr val="1E2D6B"/>
                </a:solidFill>
                <a:latin typeface="Calibri" pitchFamily="34" charset="0"/>
                <a:ea typeface="Calibri" pitchFamily="34" charset="-122"/>
                <a:cs typeface="Calibri" pitchFamily="34" charset="-120"/>
              </a:rPr>
              <a:t>10 min</a:t>
            </a:r>
            <a:endParaRPr lang="en-US" sz="1400" dirty="0"/>
          </a:p>
        </p:txBody>
      </p:sp>
      <p:sp>
        <p:nvSpPr>
          <p:cNvPr id="9" name="Shape 7"/>
          <p:cNvSpPr/>
          <p:nvPr/>
        </p:nvSpPr>
        <p:spPr>
          <a:xfrm>
            <a:off x="411480" y="2139696"/>
            <a:ext cx="384048" cy="384048"/>
          </a:xfrm>
          <a:prstGeom prst="ellipse">
            <a:avLst/>
          </a:prstGeom>
          <a:solidFill>
            <a:srgbClr val="F7F7F9"/>
          </a:solidFill>
          <a:ln w="12700">
            <a:solidFill>
              <a:srgbClr val="E5E5EA"/>
            </a:solidFill>
            <a:prstDash val="solid"/>
          </a:ln>
        </p:spPr>
        <p:txBody>
          <a:bodyPr/>
          <a:lstStyle/>
          <a:p>
            <a:endParaRPr lang="es-PE"/>
          </a:p>
        </p:txBody>
      </p:sp>
      <p:sp>
        <p:nvSpPr>
          <p:cNvPr id="10" name="Text 8"/>
          <p:cNvSpPr/>
          <p:nvPr/>
        </p:nvSpPr>
        <p:spPr>
          <a:xfrm>
            <a:off x="411480" y="2130552"/>
            <a:ext cx="384048"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914400" y="2103120"/>
            <a:ext cx="6400800" cy="246888"/>
          </a:xfrm>
          <a:prstGeom prst="rect">
            <a:avLst/>
          </a:prstGeom>
          <a:noFill/>
          <a:ln/>
        </p:spPr>
        <p:txBody>
          <a:bodyPr wrap="square" lIns="0" tIns="0" rIns="0" bIns="0" rtlCol="0" anchor="ctr"/>
          <a:lstStyle/>
          <a:p>
            <a:pPr marL="0" indent="0">
              <a:buNone/>
            </a:pPr>
            <a:r>
              <a:rPr lang="en-US" sz="1500" b="1" dirty="0">
                <a:solidFill>
                  <a:srgbClr val="121B3A"/>
                </a:solidFill>
                <a:latin typeface="Cambria" pitchFamily="34" charset="0"/>
                <a:ea typeface="Cambria" pitchFamily="34" charset="-122"/>
                <a:cs typeface="Cambria" pitchFamily="34" charset="-120"/>
              </a:rPr>
              <a:t>Configuración de ChatGPT y Claude</a:t>
            </a:r>
            <a:endParaRPr lang="en-US" sz="1500" dirty="0"/>
          </a:p>
        </p:txBody>
      </p:sp>
      <p:sp>
        <p:nvSpPr>
          <p:cNvPr id="12" name="Text 10"/>
          <p:cNvSpPr/>
          <p:nvPr/>
        </p:nvSpPr>
        <p:spPr>
          <a:xfrm>
            <a:off x="914400" y="2350008"/>
            <a:ext cx="6400800" cy="20116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Personalización + Project EEA Comercial</a:t>
            </a:r>
            <a:endParaRPr lang="en-US" sz="1200" dirty="0"/>
          </a:p>
        </p:txBody>
      </p:sp>
      <p:sp>
        <p:nvSpPr>
          <p:cNvPr id="13" name="Text 11"/>
          <p:cNvSpPr/>
          <p:nvPr/>
        </p:nvSpPr>
        <p:spPr>
          <a:xfrm>
            <a:off x="6728662" y="2148840"/>
            <a:ext cx="960120" cy="246888"/>
          </a:xfrm>
          <a:prstGeom prst="rect">
            <a:avLst/>
          </a:prstGeom>
          <a:noFill/>
          <a:ln/>
        </p:spPr>
        <p:txBody>
          <a:bodyPr wrap="square" lIns="0" tIns="0" rIns="0" bIns="0" rtlCol="0" anchor="ctr"/>
          <a:lstStyle/>
          <a:p>
            <a:pPr marL="0" indent="0" algn="r">
              <a:buNone/>
            </a:pPr>
            <a:r>
              <a:rPr lang="en-US" sz="1400" b="1" dirty="0">
                <a:solidFill>
                  <a:srgbClr val="1E2D6B"/>
                </a:solidFill>
                <a:latin typeface="Calibri" pitchFamily="34" charset="0"/>
                <a:ea typeface="Calibri" pitchFamily="34" charset="-122"/>
                <a:cs typeface="Calibri" pitchFamily="34" charset="-120"/>
              </a:rPr>
              <a:t>20 min</a:t>
            </a:r>
            <a:endParaRPr lang="en-US" sz="1400" dirty="0"/>
          </a:p>
        </p:txBody>
      </p:sp>
      <p:sp>
        <p:nvSpPr>
          <p:cNvPr id="14" name="Shape 12"/>
          <p:cNvSpPr/>
          <p:nvPr/>
        </p:nvSpPr>
        <p:spPr>
          <a:xfrm>
            <a:off x="411480" y="2825496"/>
            <a:ext cx="384048" cy="384048"/>
          </a:xfrm>
          <a:prstGeom prst="ellipse">
            <a:avLst/>
          </a:prstGeom>
          <a:solidFill>
            <a:srgbClr val="F7F7F9"/>
          </a:solidFill>
          <a:ln w="12700">
            <a:solidFill>
              <a:srgbClr val="E5E5EA"/>
            </a:solidFill>
            <a:prstDash val="solid"/>
          </a:ln>
        </p:spPr>
        <p:txBody>
          <a:bodyPr/>
          <a:lstStyle/>
          <a:p>
            <a:endParaRPr lang="es-PE"/>
          </a:p>
        </p:txBody>
      </p:sp>
      <p:sp>
        <p:nvSpPr>
          <p:cNvPr id="15" name="Text 13"/>
          <p:cNvSpPr/>
          <p:nvPr/>
        </p:nvSpPr>
        <p:spPr>
          <a:xfrm>
            <a:off x="411480" y="2816352"/>
            <a:ext cx="384048"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914400" y="2788920"/>
            <a:ext cx="6400800" cy="246888"/>
          </a:xfrm>
          <a:prstGeom prst="rect">
            <a:avLst/>
          </a:prstGeom>
          <a:noFill/>
          <a:ln/>
        </p:spPr>
        <p:txBody>
          <a:bodyPr wrap="square" lIns="0" tIns="0" rIns="0" bIns="0" rtlCol="0" anchor="ctr"/>
          <a:lstStyle/>
          <a:p>
            <a:pPr marL="0" indent="0">
              <a:buNone/>
            </a:pPr>
            <a:r>
              <a:rPr lang="en-US" sz="1500" b="1" dirty="0">
                <a:solidFill>
                  <a:srgbClr val="121B3A"/>
                </a:solidFill>
                <a:latin typeface="Cambria" pitchFamily="34" charset="0"/>
                <a:ea typeface="Cambria" pitchFamily="34" charset="-122"/>
                <a:cs typeface="Cambria" pitchFamily="34" charset="-120"/>
              </a:rPr>
              <a:t>Prompt genérico vs. situacional</a:t>
            </a:r>
            <a:endParaRPr lang="en-US" sz="1500" dirty="0"/>
          </a:p>
        </p:txBody>
      </p:sp>
      <p:sp>
        <p:nvSpPr>
          <p:cNvPr id="17" name="Text 15"/>
          <p:cNvSpPr/>
          <p:nvPr/>
        </p:nvSpPr>
        <p:spPr>
          <a:xfrm>
            <a:off x="914400" y="3035808"/>
            <a:ext cx="6400800" cy="20116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Ejemplo malo y bueno con datos del CSV</a:t>
            </a:r>
            <a:endParaRPr lang="en-US" sz="1200" dirty="0"/>
          </a:p>
        </p:txBody>
      </p:sp>
      <p:sp>
        <p:nvSpPr>
          <p:cNvPr id="18" name="Text 16"/>
          <p:cNvSpPr/>
          <p:nvPr/>
        </p:nvSpPr>
        <p:spPr>
          <a:xfrm>
            <a:off x="6728662" y="2834640"/>
            <a:ext cx="960120" cy="246888"/>
          </a:xfrm>
          <a:prstGeom prst="rect">
            <a:avLst/>
          </a:prstGeom>
          <a:noFill/>
          <a:ln/>
        </p:spPr>
        <p:txBody>
          <a:bodyPr wrap="square" lIns="0" tIns="0" rIns="0" bIns="0" rtlCol="0" anchor="ctr"/>
          <a:lstStyle/>
          <a:p>
            <a:pPr marL="0" indent="0" algn="r">
              <a:buNone/>
            </a:pPr>
            <a:r>
              <a:rPr lang="en-US" sz="1400" b="1" dirty="0">
                <a:solidFill>
                  <a:srgbClr val="1E2D6B"/>
                </a:solidFill>
                <a:latin typeface="Calibri" pitchFamily="34" charset="0"/>
                <a:ea typeface="Calibri" pitchFamily="34" charset="-122"/>
                <a:cs typeface="Calibri" pitchFamily="34" charset="-120"/>
              </a:rPr>
              <a:t>15 min</a:t>
            </a:r>
            <a:endParaRPr lang="en-US" sz="1400" dirty="0"/>
          </a:p>
        </p:txBody>
      </p:sp>
      <p:sp>
        <p:nvSpPr>
          <p:cNvPr id="19" name="Shape 17"/>
          <p:cNvSpPr/>
          <p:nvPr/>
        </p:nvSpPr>
        <p:spPr>
          <a:xfrm>
            <a:off x="411480" y="3511296"/>
            <a:ext cx="384048" cy="384048"/>
          </a:xfrm>
          <a:prstGeom prst="ellipse">
            <a:avLst/>
          </a:prstGeom>
          <a:solidFill>
            <a:srgbClr val="F7F7F9"/>
          </a:solidFill>
          <a:ln w="12700">
            <a:solidFill>
              <a:srgbClr val="E5E5EA"/>
            </a:solidFill>
            <a:prstDash val="solid"/>
          </a:ln>
        </p:spPr>
        <p:txBody>
          <a:bodyPr/>
          <a:lstStyle/>
          <a:p>
            <a:endParaRPr lang="es-PE"/>
          </a:p>
        </p:txBody>
      </p:sp>
      <p:sp>
        <p:nvSpPr>
          <p:cNvPr id="20" name="Text 18"/>
          <p:cNvSpPr/>
          <p:nvPr/>
        </p:nvSpPr>
        <p:spPr>
          <a:xfrm>
            <a:off x="411480" y="3502152"/>
            <a:ext cx="384048"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914400" y="3474720"/>
            <a:ext cx="6400800" cy="246888"/>
          </a:xfrm>
          <a:prstGeom prst="rect">
            <a:avLst/>
          </a:prstGeom>
          <a:noFill/>
          <a:ln/>
        </p:spPr>
        <p:txBody>
          <a:bodyPr wrap="square" lIns="0" tIns="0" rIns="0" bIns="0" rtlCol="0" anchor="ctr"/>
          <a:lstStyle/>
          <a:p>
            <a:pPr marL="0" indent="0">
              <a:buNone/>
            </a:pPr>
            <a:r>
              <a:rPr lang="en-US" sz="1500" b="1" dirty="0">
                <a:solidFill>
                  <a:srgbClr val="121B3A"/>
                </a:solidFill>
                <a:latin typeface="Cambria" pitchFamily="34" charset="0"/>
                <a:ea typeface="Cambria" pitchFamily="34" charset="-122"/>
                <a:cs typeface="Cambria" pitchFamily="34" charset="-120"/>
              </a:rPr>
              <a:t>Práctica con CSV de leads</a:t>
            </a:r>
            <a:endParaRPr lang="en-US" sz="1500" dirty="0"/>
          </a:p>
        </p:txBody>
      </p:sp>
      <p:sp>
        <p:nvSpPr>
          <p:cNvPr id="22" name="Text 20"/>
          <p:cNvSpPr/>
          <p:nvPr/>
        </p:nvSpPr>
        <p:spPr>
          <a:xfrm>
            <a:off x="914400" y="3721608"/>
            <a:ext cx="6400800" cy="20116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Cada uno elige una fila y aplica su situación</a:t>
            </a:r>
            <a:endParaRPr lang="en-US" sz="1200" dirty="0"/>
          </a:p>
        </p:txBody>
      </p:sp>
      <p:sp>
        <p:nvSpPr>
          <p:cNvPr id="23" name="Text 21"/>
          <p:cNvSpPr/>
          <p:nvPr/>
        </p:nvSpPr>
        <p:spPr>
          <a:xfrm>
            <a:off x="6728662" y="3520440"/>
            <a:ext cx="960120" cy="246888"/>
          </a:xfrm>
          <a:prstGeom prst="rect">
            <a:avLst/>
          </a:prstGeom>
          <a:noFill/>
          <a:ln/>
        </p:spPr>
        <p:txBody>
          <a:bodyPr wrap="square" lIns="0" tIns="0" rIns="0" bIns="0" rtlCol="0" anchor="ctr"/>
          <a:lstStyle/>
          <a:p>
            <a:pPr marL="0" indent="0" algn="r">
              <a:buNone/>
            </a:pPr>
            <a:r>
              <a:rPr lang="en-US" sz="1400" b="1" dirty="0">
                <a:solidFill>
                  <a:srgbClr val="1E2D6B"/>
                </a:solidFill>
                <a:latin typeface="Calibri" pitchFamily="34" charset="0"/>
                <a:ea typeface="Calibri" pitchFamily="34" charset="-122"/>
                <a:cs typeface="Calibri" pitchFamily="34" charset="-120"/>
              </a:rPr>
              <a:t>25 min</a:t>
            </a:r>
            <a:endParaRPr lang="en-US" sz="1400" dirty="0"/>
          </a:p>
        </p:txBody>
      </p:sp>
      <p:sp>
        <p:nvSpPr>
          <p:cNvPr id="24" name="Shape 22"/>
          <p:cNvSpPr/>
          <p:nvPr/>
        </p:nvSpPr>
        <p:spPr>
          <a:xfrm>
            <a:off x="411480" y="4197096"/>
            <a:ext cx="384048" cy="384048"/>
          </a:xfrm>
          <a:prstGeom prst="ellipse">
            <a:avLst/>
          </a:prstGeom>
          <a:solidFill>
            <a:srgbClr val="F7F7F9"/>
          </a:solidFill>
          <a:ln w="12700">
            <a:solidFill>
              <a:srgbClr val="E5E5EA"/>
            </a:solidFill>
            <a:prstDash val="solid"/>
          </a:ln>
        </p:spPr>
        <p:txBody>
          <a:bodyPr/>
          <a:lstStyle/>
          <a:p>
            <a:endParaRPr lang="es-PE"/>
          </a:p>
        </p:txBody>
      </p:sp>
      <p:sp>
        <p:nvSpPr>
          <p:cNvPr id="25" name="Text 23"/>
          <p:cNvSpPr/>
          <p:nvPr/>
        </p:nvSpPr>
        <p:spPr>
          <a:xfrm>
            <a:off x="411480" y="4187952"/>
            <a:ext cx="384048"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914400" y="4160520"/>
            <a:ext cx="6400800" cy="246888"/>
          </a:xfrm>
          <a:prstGeom prst="rect">
            <a:avLst/>
          </a:prstGeom>
          <a:noFill/>
          <a:ln/>
        </p:spPr>
        <p:txBody>
          <a:bodyPr wrap="square" lIns="0" tIns="0" rIns="0" bIns="0" rtlCol="0" anchor="ctr"/>
          <a:lstStyle/>
          <a:p>
            <a:pPr marL="0" indent="0">
              <a:buNone/>
            </a:pPr>
            <a:r>
              <a:rPr lang="en-US" sz="1500" b="1" dirty="0">
                <a:solidFill>
                  <a:srgbClr val="121B3A"/>
                </a:solidFill>
                <a:latin typeface="Cambria" pitchFamily="34" charset="0"/>
                <a:ea typeface="Cambria" pitchFamily="34" charset="-122"/>
                <a:cs typeface="Cambria" pitchFamily="34" charset="-120"/>
              </a:rPr>
              <a:t>Edición + cierre con compromiso</a:t>
            </a:r>
            <a:endParaRPr lang="en-US" sz="1500" dirty="0"/>
          </a:p>
        </p:txBody>
      </p:sp>
      <p:sp>
        <p:nvSpPr>
          <p:cNvPr id="27" name="Text 25"/>
          <p:cNvSpPr/>
          <p:nvPr/>
        </p:nvSpPr>
        <p:spPr>
          <a:xfrm>
            <a:off x="914400" y="4407408"/>
            <a:ext cx="6400800" cy="20116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¿Qué cambias? + cuántos leads esta semana</a:t>
            </a:r>
            <a:endParaRPr lang="en-US" sz="1200" dirty="0"/>
          </a:p>
        </p:txBody>
      </p:sp>
      <p:sp>
        <p:nvSpPr>
          <p:cNvPr id="28" name="Text 26"/>
          <p:cNvSpPr/>
          <p:nvPr/>
        </p:nvSpPr>
        <p:spPr>
          <a:xfrm>
            <a:off x="6728662" y="4206240"/>
            <a:ext cx="960120" cy="246888"/>
          </a:xfrm>
          <a:prstGeom prst="rect">
            <a:avLst/>
          </a:prstGeom>
          <a:noFill/>
          <a:ln/>
        </p:spPr>
        <p:txBody>
          <a:bodyPr wrap="square" lIns="0" tIns="0" rIns="0" bIns="0" rtlCol="0" anchor="ctr"/>
          <a:lstStyle/>
          <a:p>
            <a:pPr marL="0" indent="0" algn="r">
              <a:buNone/>
            </a:pPr>
            <a:r>
              <a:rPr lang="en-US" sz="1400" b="1" dirty="0">
                <a:solidFill>
                  <a:srgbClr val="1E2D6B"/>
                </a:solidFill>
                <a:latin typeface="Calibri" pitchFamily="34" charset="0"/>
                <a:ea typeface="Calibri" pitchFamily="34" charset="-122"/>
                <a:cs typeface="Calibri" pitchFamily="34" charset="-120"/>
              </a:rPr>
              <a:t>20 min</a:t>
            </a:r>
            <a:endParaRPr lang="en-US" sz="1400" dirty="0"/>
          </a:p>
        </p:txBody>
      </p:sp>
      <p:sp>
        <p:nvSpPr>
          <p:cNvPr id="29" name="Text 27"/>
          <p:cNvSpPr/>
          <p:nvPr/>
        </p:nvSpPr>
        <p:spPr>
          <a:xfrm>
            <a:off x="411480" y="4800600"/>
            <a:ext cx="8229600" cy="182880"/>
          </a:xfrm>
          <a:prstGeom prst="rect">
            <a:avLst/>
          </a:prstGeom>
          <a:noFill/>
          <a:ln/>
        </p:spPr>
        <p:txBody>
          <a:bodyPr wrap="square" lIns="0" tIns="0" rIns="0" bIns="0" rtlCol="0" anchor="ctr"/>
          <a:lstStyle/>
          <a:p>
            <a:pPr marL="0" indent="0">
              <a:buNone/>
            </a:pPr>
            <a:r>
              <a:rPr lang="en-US" sz="1000" i="1" dirty="0">
                <a:solidFill>
                  <a:srgbClr val="AAAAAA"/>
                </a:solidFill>
                <a:latin typeface="Calibri" pitchFamily="34" charset="0"/>
                <a:ea typeface="Calibri" pitchFamily="34" charset="-122"/>
                <a:cs typeface="Calibri" pitchFamily="34" charset="-120"/>
              </a:rPr>
              <a:t>Duración total: 90 min  ·  6 participantes + instructora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APERTURA · REPASO SESIÓN 0</a:t>
            </a:r>
            <a:endParaRPr lang="en-US" sz="900" dirty="0"/>
          </a:p>
        </p:txBody>
      </p:sp>
      <p:sp>
        <p:nvSpPr>
          <p:cNvPr id="3" name="Text 1"/>
          <p:cNvSpPr/>
          <p:nvPr/>
        </p:nvSpPr>
        <p:spPr>
          <a:xfrm>
            <a:off x="411480" y="566928"/>
            <a:ext cx="731520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 calentar motores!</a:t>
            </a:r>
            <a:endParaRPr lang="en-US" sz="3600" dirty="0"/>
          </a:p>
        </p:txBody>
      </p:sp>
      <p:sp>
        <p:nvSpPr>
          <p:cNvPr id="4" name="Shape 2"/>
          <p:cNvSpPr/>
          <p:nvPr/>
        </p:nvSpPr>
        <p:spPr>
          <a:xfrm>
            <a:off x="411480" y="1508760"/>
            <a:ext cx="3840480" cy="2194560"/>
          </a:xfrm>
          <a:prstGeom prst="roundRect">
            <a:avLst>
              <a:gd name="adj" fmla="val 5000"/>
            </a:avLst>
          </a:prstGeom>
          <a:solidFill>
            <a:srgbClr val="F5C842"/>
          </a:solidFill>
          <a:ln w="12700">
            <a:solidFill>
              <a:srgbClr val="F5C842"/>
            </a:solidFill>
            <a:prstDash val="solid"/>
          </a:ln>
        </p:spPr>
        <p:txBody>
          <a:bodyPr/>
          <a:lstStyle/>
          <a:p>
            <a:endParaRPr lang="es-PE"/>
          </a:p>
        </p:txBody>
      </p:sp>
      <p:sp>
        <p:nvSpPr>
          <p:cNvPr id="5" name="Text 3"/>
          <p:cNvSpPr/>
          <p:nvPr/>
        </p:nvSpPr>
        <p:spPr>
          <a:xfrm>
            <a:off x="594360" y="1737360"/>
            <a:ext cx="3474720" cy="320040"/>
          </a:xfrm>
          <a:prstGeom prst="rect">
            <a:avLst/>
          </a:prstGeom>
          <a:noFill/>
          <a:ln/>
        </p:spPr>
        <p:txBody>
          <a:bodyPr wrap="square" lIns="0" tIns="0" rIns="0" bIns="0" rtlCol="0" anchor="ctr"/>
          <a:lstStyle/>
          <a:p>
            <a:pPr marL="0" indent="0" algn="ctr">
              <a:buNone/>
            </a:pPr>
            <a:r>
              <a:rPr lang="en-US" sz="1200" b="1" kern="0" spc="300" dirty="0">
                <a:solidFill>
                  <a:srgbClr val="121B3A"/>
                </a:solidFill>
                <a:latin typeface="Calibri" pitchFamily="34" charset="0"/>
                <a:ea typeface="Calibri" pitchFamily="34" charset="-122"/>
                <a:cs typeface="Calibri" pitchFamily="34" charset="-120"/>
              </a:rPr>
              <a:t>PIN KAHOOT</a:t>
            </a:r>
            <a:endParaRPr lang="en-US" sz="1200" dirty="0"/>
          </a:p>
        </p:txBody>
      </p:sp>
      <p:sp>
        <p:nvSpPr>
          <p:cNvPr id="6" name="Text 4"/>
          <p:cNvSpPr/>
          <p:nvPr/>
        </p:nvSpPr>
        <p:spPr>
          <a:xfrm>
            <a:off x="594360" y="2103120"/>
            <a:ext cx="3474720" cy="822960"/>
          </a:xfrm>
          <a:prstGeom prst="rect">
            <a:avLst/>
          </a:prstGeom>
          <a:noFill/>
          <a:ln/>
        </p:spPr>
        <p:txBody>
          <a:bodyPr wrap="square" lIns="0" tIns="0" rIns="0" bIns="0" rtlCol="0" anchor="ctr"/>
          <a:lstStyle/>
          <a:p>
            <a:pPr marL="0" indent="0" algn="ctr">
              <a:buNone/>
            </a:pPr>
            <a:r>
              <a:rPr lang="en-US" sz="4800" b="1" dirty="0">
                <a:solidFill>
                  <a:srgbClr val="121B3A"/>
                </a:solidFill>
                <a:latin typeface="Cambria" pitchFamily="34" charset="0"/>
                <a:ea typeface="Cambria" pitchFamily="34" charset="-122"/>
                <a:cs typeface="Cambria" pitchFamily="34" charset="-120"/>
              </a:rPr>
              <a:t>01004434</a:t>
            </a:r>
            <a:endParaRPr lang="en-US" sz="4800" dirty="0"/>
          </a:p>
        </p:txBody>
      </p:sp>
      <p:sp>
        <p:nvSpPr>
          <p:cNvPr id="7" name="Text 5"/>
          <p:cNvSpPr/>
          <p:nvPr/>
        </p:nvSpPr>
        <p:spPr>
          <a:xfrm>
            <a:off x="594360" y="2944368"/>
            <a:ext cx="3474720" cy="274320"/>
          </a:xfrm>
          <a:prstGeom prst="rect">
            <a:avLst/>
          </a:prstGeom>
          <a:noFill/>
          <a:ln/>
        </p:spPr>
        <p:txBody>
          <a:bodyPr wrap="square" lIns="0" tIns="0" rIns="0" bIns="0" rtlCol="0" anchor="ctr"/>
          <a:lstStyle/>
          <a:p>
            <a:pPr marL="0" indent="0" algn="ctr">
              <a:buNone/>
            </a:pPr>
            <a:r>
              <a:rPr lang="en-US" sz="1300" dirty="0">
                <a:solidFill>
                  <a:srgbClr val="1E2D6B"/>
                </a:solidFill>
                <a:latin typeface="Calibri" pitchFamily="34" charset="0"/>
                <a:ea typeface="Calibri" pitchFamily="34" charset="-122"/>
                <a:cs typeface="Calibri" pitchFamily="34" charset="-120"/>
              </a:rPr>
              <a:t>kahoot.it</a:t>
            </a:r>
            <a:endParaRPr lang="en-US" sz="1300" dirty="0"/>
          </a:p>
        </p:txBody>
      </p:sp>
      <p:sp>
        <p:nvSpPr>
          <p:cNvPr id="8" name="Shape 6"/>
          <p:cNvSpPr/>
          <p:nvPr/>
        </p:nvSpPr>
        <p:spPr>
          <a:xfrm>
            <a:off x="4572000" y="1645920"/>
            <a:ext cx="4114800" cy="530352"/>
          </a:xfrm>
          <a:prstGeom prst="roundRect">
            <a:avLst>
              <a:gd name="adj" fmla="val 10345"/>
            </a:avLst>
          </a:prstGeom>
          <a:solidFill>
            <a:srgbClr val="1E2D6B">
              <a:alpha val="40000"/>
            </a:srgbClr>
          </a:solidFill>
          <a:ln w="12700">
            <a:solidFill>
              <a:srgbClr val="FFFFFF"/>
            </a:solidFill>
            <a:prstDash val="solid"/>
          </a:ln>
        </p:spPr>
        <p:txBody>
          <a:bodyPr/>
          <a:lstStyle/>
          <a:p>
            <a:endParaRPr lang="es-PE"/>
          </a:p>
        </p:txBody>
      </p:sp>
      <p:sp>
        <p:nvSpPr>
          <p:cNvPr id="9" name="Text 7"/>
          <p:cNvSpPr/>
          <p:nvPr/>
        </p:nvSpPr>
        <p:spPr>
          <a:xfrm>
            <a:off x="4736592" y="1719072"/>
            <a:ext cx="914400" cy="384048"/>
          </a:xfrm>
          <a:prstGeom prst="rect">
            <a:avLst/>
          </a:prstGeom>
          <a:noFill/>
          <a:ln/>
        </p:spPr>
        <p:txBody>
          <a:bodyPr wrap="square" lIns="0" tIns="0" rIns="0" bIns="0" rtlCol="0" anchor="ctr"/>
          <a:lstStyle/>
          <a:p>
            <a:pPr marL="0" indent="0">
              <a:buNone/>
            </a:pPr>
            <a:r>
              <a:rPr lang="en-US" sz="2000" b="1" dirty="0">
                <a:solidFill>
                  <a:srgbClr val="F5C842"/>
                </a:solidFill>
                <a:latin typeface="Cambria" pitchFamily="34" charset="0"/>
                <a:ea typeface="Cambria" pitchFamily="34" charset="-122"/>
                <a:cs typeface="Cambria" pitchFamily="34" charset="-120"/>
              </a:rPr>
              <a:t>10</a:t>
            </a:r>
            <a:endParaRPr lang="en-US" sz="2000" dirty="0"/>
          </a:p>
        </p:txBody>
      </p:sp>
      <p:sp>
        <p:nvSpPr>
          <p:cNvPr id="10" name="Text 8"/>
          <p:cNvSpPr/>
          <p:nvPr/>
        </p:nvSpPr>
        <p:spPr>
          <a:xfrm>
            <a:off x="5669280" y="1755648"/>
            <a:ext cx="28346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preguntas de la Sesión 0</a:t>
            </a:r>
            <a:endParaRPr lang="en-US" sz="1300" dirty="0"/>
          </a:p>
        </p:txBody>
      </p:sp>
      <p:sp>
        <p:nvSpPr>
          <p:cNvPr id="11" name="Shape 9"/>
          <p:cNvSpPr/>
          <p:nvPr/>
        </p:nvSpPr>
        <p:spPr>
          <a:xfrm>
            <a:off x="4572000" y="2331720"/>
            <a:ext cx="4114800" cy="530352"/>
          </a:xfrm>
          <a:prstGeom prst="roundRect">
            <a:avLst>
              <a:gd name="adj" fmla="val 10345"/>
            </a:avLst>
          </a:prstGeom>
          <a:solidFill>
            <a:srgbClr val="1E2D6B">
              <a:alpha val="40000"/>
            </a:srgbClr>
          </a:solidFill>
          <a:ln w="12700">
            <a:solidFill>
              <a:srgbClr val="FFFFFF"/>
            </a:solidFill>
            <a:prstDash val="solid"/>
          </a:ln>
        </p:spPr>
        <p:txBody>
          <a:bodyPr/>
          <a:lstStyle/>
          <a:p>
            <a:endParaRPr lang="es-PE"/>
          </a:p>
        </p:txBody>
      </p:sp>
      <p:sp>
        <p:nvSpPr>
          <p:cNvPr id="12" name="Text 10"/>
          <p:cNvSpPr/>
          <p:nvPr/>
        </p:nvSpPr>
        <p:spPr>
          <a:xfrm>
            <a:off x="4736592" y="2404872"/>
            <a:ext cx="914400" cy="384048"/>
          </a:xfrm>
          <a:prstGeom prst="rect">
            <a:avLst/>
          </a:prstGeom>
          <a:noFill/>
          <a:ln/>
        </p:spPr>
        <p:txBody>
          <a:bodyPr wrap="square" lIns="0" tIns="0" rIns="0" bIns="0" rtlCol="0" anchor="ctr"/>
          <a:lstStyle/>
          <a:p>
            <a:pPr marL="0" indent="0">
              <a:buNone/>
            </a:pPr>
            <a:r>
              <a:rPr lang="en-US" sz="2000" b="1" dirty="0">
                <a:solidFill>
                  <a:srgbClr val="F5C842"/>
                </a:solidFill>
                <a:latin typeface="Cambria" pitchFamily="34" charset="0"/>
                <a:ea typeface="Cambria" pitchFamily="34" charset="-122"/>
                <a:cs typeface="Cambria" pitchFamily="34" charset="-120"/>
              </a:rPr>
              <a:t>2 min</a:t>
            </a:r>
            <a:endParaRPr lang="en-US" sz="2000" dirty="0"/>
          </a:p>
        </p:txBody>
      </p:sp>
      <p:sp>
        <p:nvSpPr>
          <p:cNvPr id="13" name="Text 11"/>
          <p:cNvSpPr/>
          <p:nvPr/>
        </p:nvSpPr>
        <p:spPr>
          <a:xfrm>
            <a:off x="5669280" y="2441448"/>
            <a:ext cx="28346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por pregunta — ritmo rápido</a:t>
            </a:r>
            <a:endParaRPr lang="en-US" sz="1300" dirty="0"/>
          </a:p>
        </p:txBody>
      </p:sp>
      <p:sp>
        <p:nvSpPr>
          <p:cNvPr id="14" name="Shape 12"/>
          <p:cNvSpPr/>
          <p:nvPr/>
        </p:nvSpPr>
        <p:spPr>
          <a:xfrm>
            <a:off x="4572000" y="3017520"/>
            <a:ext cx="4114800" cy="530352"/>
          </a:xfrm>
          <a:prstGeom prst="roundRect">
            <a:avLst>
              <a:gd name="adj" fmla="val 10345"/>
            </a:avLst>
          </a:prstGeom>
          <a:solidFill>
            <a:srgbClr val="1E2D6B">
              <a:alpha val="40000"/>
            </a:srgbClr>
          </a:solidFill>
          <a:ln w="12700">
            <a:solidFill>
              <a:srgbClr val="FFFFFF"/>
            </a:solidFill>
            <a:prstDash val="solid"/>
          </a:ln>
        </p:spPr>
        <p:txBody>
          <a:bodyPr/>
          <a:lstStyle/>
          <a:p>
            <a:endParaRPr lang="es-PE"/>
          </a:p>
        </p:txBody>
      </p:sp>
      <p:sp>
        <p:nvSpPr>
          <p:cNvPr id="15" name="Text 13"/>
          <p:cNvSpPr/>
          <p:nvPr/>
        </p:nvSpPr>
        <p:spPr>
          <a:xfrm>
            <a:off x="4736592" y="3090672"/>
            <a:ext cx="914400" cy="384048"/>
          </a:xfrm>
          <a:prstGeom prst="rect">
            <a:avLst/>
          </a:prstGeom>
          <a:noFill/>
          <a:ln/>
        </p:spPr>
        <p:txBody>
          <a:bodyPr wrap="square" lIns="0" tIns="0" rIns="0" bIns="0" rtlCol="0" anchor="ctr"/>
          <a:lstStyle/>
          <a:p>
            <a:pPr marL="0" indent="0">
              <a:buNone/>
            </a:pPr>
            <a:r>
              <a:rPr lang="en-US" sz="2000" b="1" dirty="0">
                <a:solidFill>
                  <a:srgbClr val="F5C842"/>
                </a:solidFill>
                <a:latin typeface="Cambria" pitchFamily="34" charset="0"/>
                <a:ea typeface="Cambria" pitchFamily="34" charset="-122"/>
                <a:cs typeface="Cambria" pitchFamily="34" charset="-120"/>
              </a:rPr>
              <a:t>📱</a:t>
            </a:r>
            <a:endParaRPr lang="en-US" sz="2000" dirty="0"/>
          </a:p>
        </p:txBody>
      </p:sp>
      <p:sp>
        <p:nvSpPr>
          <p:cNvPr id="16" name="Text 14"/>
          <p:cNvSpPr/>
          <p:nvPr/>
        </p:nvSpPr>
        <p:spPr>
          <a:xfrm>
            <a:off x="5669280" y="3127248"/>
            <a:ext cx="28346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Desde el celular o la misma PC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1 · CONFIGURACIÓN</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ChatGPT — Instrucciones personalizadas</a:t>
            </a:r>
            <a:endParaRPr lang="en-US" sz="3200" dirty="0"/>
          </a:p>
        </p:txBody>
      </p:sp>
      <p:sp>
        <p:nvSpPr>
          <p:cNvPr id="4" name="Shape 2"/>
          <p:cNvSpPr/>
          <p:nvPr/>
        </p:nvSpPr>
        <p:spPr>
          <a:xfrm>
            <a:off x="411480" y="1481328"/>
            <a:ext cx="8321040" cy="347472"/>
          </a:xfrm>
          <a:prstGeom prst="roundRect">
            <a:avLst>
              <a:gd name="adj" fmla="val 13158"/>
            </a:avLst>
          </a:prstGeom>
          <a:solidFill>
            <a:srgbClr val="F7F7F9"/>
          </a:solidFill>
          <a:ln w="12700">
            <a:solidFill>
              <a:srgbClr val="E5E5EA"/>
            </a:solidFill>
            <a:prstDash val="solid"/>
          </a:ln>
        </p:spPr>
        <p:txBody>
          <a:bodyPr/>
          <a:lstStyle/>
          <a:p>
            <a:endParaRPr lang="es-PE"/>
          </a:p>
        </p:txBody>
      </p:sp>
      <p:sp>
        <p:nvSpPr>
          <p:cNvPr id="5" name="Text 3"/>
          <p:cNvSpPr/>
          <p:nvPr/>
        </p:nvSpPr>
        <p:spPr>
          <a:xfrm>
            <a:off x="548640" y="1536192"/>
            <a:ext cx="8046720" cy="237744"/>
          </a:xfrm>
          <a:prstGeom prst="rect">
            <a:avLst/>
          </a:prstGeom>
          <a:noFill/>
          <a:ln/>
        </p:spPr>
        <p:txBody>
          <a:bodyPr wrap="square" lIns="0" tIns="0" rIns="0" bIns="0" rtlCol="0" anchor="ctr"/>
          <a:lstStyle/>
          <a:p>
            <a:pPr marL="0" indent="0">
              <a:buNone/>
            </a:pPr>
            <a:r>
              <a:rPr lang="en-US" sz="1100" b="1" dirty="0">
                <a:solidFill>
                  <a:srgbClr val="1E2D6B"/>
                </a:solidFill>
                <a:latin typeface="Calibri" pitchFamily="34" charset="0"/>
                <a:ea typeface="Calibri" pitchFamily="34" charset="-122"/>
                <a:cs typeface="Calibri" pitchFamily="34" charset="-120"/>
              </a:rPr>
              <a:t>Ruta:  Configuración  →  Personalización  →  Instrucciones personalizadas  →  campo '¿Qué deberías saber sobre mí?'</a:t>
            </a:r>
            <a:endParaRPr lang="en-US" sz="1100" dirty="0"/>
          </a:p>
        </p:txBody>
      </p:sp>
      <p:sp>
        <p:nvSpPr>
          <p:cNvPr id="6" name="Shape 4"/>
          <p:cNvSpPr/>
          <p:nvPr/>
        </p:nvSpPr>
        <p:spPr>
          <a:xfrm>
            <a:off x="411480" y="1920240"/>
            <a:ext cx="8321040" cy="1408176"/>
          </a:xfrm>
          <a:prstGeom prst="roundRect">
            <a:avLst>
              <a:gd name="adj" fmla="val 5195"/>
            </a:avLst>
          </a:prstGeom>
          <a:solidFill>
            <a:srgbClr val="121B3A"/>
          </a:solidFill>
          <a:ln w="12700">
            <a:solidFill>
              <a:srgbClr val="121B3A"/>
            </a:solidFill>
            <a:prstDash val="solid"/>
          </a:ln>
        </p:spPr>
        <p:txBody>
          <a:bodyPr/>
          <a:lstStyle/>
          <a:p>
            <a:endParaRPr lang="es-PE"/>
          </a:p>
        </p:txBody>
      </p:sp>
      <p:sp>
        <p:nvSpPr>
          <p:cNvPr id="7" name="Text 5"/>
          <p:cNvSpPr/>
          <p:nvPr/>
        </p:nvSpPr>
        <p:spPr>
          <a:xfrm>
            <a:off x="576072" y="2011680"/>
            <a:ext cx="8046720" cy="182880"/>
          </a:xfrm>
          <a:prstGeom prst="rect">
            <a:avLst/>
          </a:prstGeom>
          <a:noFill/>
          <a:ln/>
        </p:spPr>
        <p:txBody>
          <a:bodyPr wrap="square" lIns="0" tIns="0" rIns="0" bIns="0" rtlCol="0" anchor="ctr"/>
          <a:lstStyle/>
          <a:p>
            <a:pPr marL="0" indent="0">
              <a:buNone/>
            </a:pPr>
            <a:r>
              <a:rPr lang="en-US" sz="800" b="1" kern="0" spc="200" dirty="0">
                <a:solidFill>
                  <a:srgbClr val="F5C842"/>
                </a:solidFill>
                <a:latin typeface="Calibri" pitchFamily="34" charset="0"/>
                <a:ea typeface="Calibri" pitchFamily="34" charset="-122"/>
                <a:cs typeface="Calibri" pitchFamily="34" charset="-120"/>
              </a:rPr>
              <a:t>COPIAR Y PEGAR EN CHATGPT</a:t>
            </a:r>
            <a:endParaRPr lang="en-US" sz="800" dirty="0"/>
          </a:p>
        </p:txBody>
      </p:sp>
      <p:sp>
        <p:nvSpPr>
          <p:cNvPr id="8" name="Text 6"/>
          <p:cNvSpPr/>
          <p:nvPr/>
        </p:nvSpPr>
        <p:spPr>
          <a:xfrm>
            <a:off x="576072" y="2194560"/>
            <a:ext cx="8046720" cy="1060704"/>
          </a:xfrm>
          <a:prstGeom prst="rect">
            <a:avLst/>
          </a:prstGeom>
          <a:noFill/>
          <a:ln/>
        </p:spPr>
        <p:txBody>
          <a:bodyPr wrap="square" lIns="0" tIns="0" rIns="0" bIns="0" rtlCol="0" anchor="t"/>
          <a:lstStyle/>
          <a:p>
            <a:pPr marL="0" indent="0">
              <a:buNone/>
            </a:pPr>
            <a:r>
              <a:rPr lang="en-US" sz="1000" dirty="0">
                <a:solidFill>
                  <a:srgbClr val="C9CEE8"/>
                </a:solidFill>
                <a:latin typeface="Courier New" pitchFamily="34" charset="0"/>
                <a:ea typeface="Courier New" pitchFamily="34" charset="-122"/>
                <a:cs typeface="Courier New" pitchFamily="34" charset="-120"/>
              </a:rPr>
              <a:t>Trabajo en el equipo comercial/soporte de Elite Expert Academy,</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academia online de estética avanzada con presencia en Perú, Colombia,</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Bolivia, Venezuela y EE.UU. Atendemos leads por Meta Ads y webinars.</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Canal principal: WhatsApp. Estados de lead: No contesta, Seguimiento,</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Interesado, Alumna, Inválido, Seminario Siguiente, Compró.</a:t>
            </a:r>
            <a:endParaRPr lang="en-US" sz="1000" dirty="0"/>
          </a:p>
        </p:txBody>
      </p:sp>
      <p:sp>
        <p:nvSpPr>
          <p:cNvPr id="9" name="Shape 7"/>
          <p:cNvSpPr/>
          <p:nvPr/>
        </p:nvSpPr>
        <p:spPr>
          <a:xfrm>
            <a:off x="411480" y="3730752"/>
            <a:ext cx="8321040" cy="822960"/>
          </a:xfrm>
          <a:prstGeom prst="roundRect">
            <a:avLst>
              <a:gd name="adj" fmla="val 6667"/>
            </a:avLst>
          </a:prstGeom>
          <a:solidFill>
            <a:srgbClr val="FFF8E6"/>
          </a:solidFill>
          <a:ln w="19050">
            <a:solidFill>
              <a:srgbClr val="F5C842"/>
            </a:solidFill>
            <a:prstDash val="solid"/>
          </a:ln>
        </p:spPr>
        <p:txBody>
          <a:bodyPr/>
          <a:lstStyle/>
          <a:p>
            <a:endParaRPr lang="es-PE"/>
          </a:p>
        </p:txBody>
      </p:sp>
      <p:sp>
        <p:nvSpPr>
          <p:cNvPr id="10" name="Text 8"/>
          <p:cNvSpPr/>
          <p:nvPr/>
        </p:nvSpPr>
        <p:spPr>
          <a:xfrm>
            <a:off x="594360" y="3794760"/>
            <a:ext cx="2743200" cy="201168"/>
          </a:xfrm>
          <a:prstGeom prst="rect">
            <a:avLst/>
          </a:prstGeom>
          <a:noFill/>
          <a:ln/>
        </p:spPr>
        <p:txBody>
          <a:bodyPr wrap="square" lIns="0" tIns="0" rIns="0" bIns="0" rtlCol="0" anchor="ctr"/>
          <a:lstStyle/>
          <a:p>
            <a:pPr marL="0" indent="0">
              <a:buNone/>
            </a:pPr>
            <a:r>
              <a:rPr lang="en-US" sz="800" b="1" kern="0" spc="200" dirty="0">
                <a:solidFill>
                  <a:srgbClr val="F5C842"/>
                </a:solidFill>
                <a:latin typeface="Calibri" pitchFamily="34" charset="0"/>
                <a:ea typeface="Calibri" pitchFamily="34" charset="-122"/>
                <a:cs typeface="Calibri" pitchFamily="34" charset="-120"/>
              </a:rPr>
              <a:t>NOTA INSTRUCTORA</a:t>
            </a:r>
            <a:endParaRPr lang="en-US" sz="800" dirty="0"/>
          </a:p>
        </p:txBody>
      </p:sp>
      <p:sp>
        <p:nvSpPr>
          <p:cNvPr id="11" name="Text 9"/>
          <p:cNvSpPr/>
          <p:nvPr/>
        </p:nvSpPr>
        <p:spPr>
          <a:xfrm>
            <a:off x="594360" y="3986784"/>
            <a:ext cx="7955280" cy="502920"/>
          </a:xfrm>
          <a:prstGeom prst="rect">
            <a:avLst/>
          </a:prstGeom>
          <a:noFill/>
          <a:ln/>
        </p:spPr>
        <p:txBody>
          <a:bodyPr wrap="square" lIns="0" tIns="0" rIns="0" bIns="0" rtlCol="0" anchor="ctr"/>
          <a:lstStyle/>
          <a:p>
            <a:pPr marL="0" indent="0">
              <a:buNone/>
            </a:pPr>
            <a:r>
              <a:rPr lang="en-US" sz="1100" i="1" dirty="0">
                <a:solidFill>
                  <a:srgbClr val="121B3A"/>
                </a:solidFill>
                <a:latin typeface="Calibri" pitchFamily="34" charset="0"/>
                <a:ea typeface="Calibri" pitchFamily="34" charset="-122"/>
                <a:cs typeface="Calibri" pitchFamily="34" charset="-120"/>
              </a:rPr>
              <a:t>Demo en pantalla compartida → esperar que todos repliquen → verificar que guardaron antes de avanzar. Si alguien no encuentra la ruta: Configuración está en el ícono de perfil, esquina inferior izquierda.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1 · CONFIGURACIÓN</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Claude — Project EEA Comercial</a:t>
            </a:r>
            <a:endParaRPr lang="en-US" sz="3200" dirty="0"/>
          </a:p>
        </p:txBody>
      </p:sp>
      <p:sp>
        <p:nvSpPr>
          <p:cNvPr id="4" name="Shape 2"/>
          <p:cNvSpPr/>
          <p:nvPr/>
        </p:nvSpPr>
        <p:spPr>
          <a:xfrm>
            <a:off x="411480" y="1499616"/>
            <a:ext cx="310896" cy="310896"/>
          </a:xfrm>
          <a:prstGeom prst="ellipse">
            <a:avLst/>
          </a:prstGeom>
          <a:solidFill>
            <a:srgbClr val="CC6B45"/>
          </a:solidFill>
          <a:ln w="12700">
            <a:solidFill>
              <a:srgbClr val="CC6B45"/>
            </a:solidFill>
            <a:prstDash val="solid"/>
          </a:ln>
        </p:spPr>
        <p:txBody>
          <a:bodyPr/>
          <a:lstStyle/>
          <a:p>
            <a:endParaRPr lang="es-PE"/>
          </a:p>
        </p:txBody>
      </p:sp>
      <p:sp>
        <p:nvSpPr>
          <p:cNvPr id="5" name="Text 3"/>
          <p:cNvSpPr/>
          <p:nvPr/>
        </p:nvSpPr>
        <p:spPr>
          <a:xfrm>
            <a:off x="411480" y="1490472"/>
            <a:ext cx="310896"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822960" y="1508760"/>
            <a:ext cx="7863840" cy="292608"/>
          </a:xfrm>
          <a:prstGeom prst="rect">
            <a:avLst/>
          </a:prstGeom>
          <a:noFill/>
          <a:ln/>
        </p:spPr>
        <p:txBody>
          <a:bodyPr wrap="square" lIns="0" tIns="0" rIns="0" bIns="0" rtlCol="0" anchor="ctr"/>
          <a:lstStyle/>
          <a:p>
            <a:pPr marL="0" indent="0">
              <a:buNone/>
            </a:pPr>
            <a:r>
              <a:rPr lang="en-US" sz="1300" dirty="0">
                <a:solidFill>
                  <a:srgbClr val="121B3A"/>
                </a:solidFill>
                <a:latin typeface="Calibri" pitchFamily="34" charset="0"/>
                <a:ea typeface="Calibri" pitchFamily="34" charset="-122"/>
                <a:cs typeface="Calibri" pitchFamily="34" charset="-120"/>
              </a:rPr>
              <a:t>Abrir Claude  →  clic en 'Projects'  →  'New Project'</a:t>
            </a:r>
            <a:endParaRPr lang="en-US" sz="1300" dirty="0"/>
          </a:p>
        </p:txBody>
      </p:sp>
      <p:sp>
        <p:nvSpPr>
          <p:cNvPr id="7" name="Shape 5"/>
          <p:cNvSpPr/>
          <p:nvPr/>
        </p:nvSpPr>
        <p:spPr>
          <a:xfrm>
            <a:off x="411480" y="1911096"/>
            <a:ext cx="310896" cy="310896"/>
          </a:xfrm>
          <a:prstGeom prst="ellipse">
            <a:avLst/>
          </a:prstGeom>
          <a:solidFill>
            <a:srgbClr val="CC6B45"/>
          </a:solidFill>
          <a:ln w="12700">
            <a:solidFill>
              <a:srgbClr val="CC6B45"/>
            </a:solidFill>
            <a:prstDash val="solid"/>
          </a:ln>
        </p:spPr>
        <p:txBody>
          <a:bodyPr/>
          <a:lstStyle/>
          <a:p>
            <a:endParaRPr lang="es-PE"/>
          </a:p>
        </p:txBody>
      </p:sp>
      <p:sp>
        <p:nvSpPr>
          <p:cNvPr id="8" name="Text 6"/>
          <p:cNvSpPr/>
          <p:nvPr/>
        </p:nvSpPr>
        <p:spPr>
          <a:xfrm>
            <a:off x="411480" y="1901952"/>
            <a:ext cx="310896"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822960" y="1920240"/>
            <a:ext cx="7863840" cy="292608"/>
          </a:xfrm>
          <a:prstGeom prst="rect">
            <a:avLst/>
          </a:prstGeom>
          <a:noFill/>
          <a:ln/>
        </p:spPr>
        <p:txBody>
          <a:bodyPr wrap="square" lIns="0" tIns="0" rIns="0" bIns="0" rtlCol="0" anchor="ctr"/>
          <a:lstStyle/>
          <a:p>
            <a:pPr marL="0" indent="0">
              <a:buNone/>
            </a:pPr>
            <a:r>
              <a:rPr lang="en-US" sz="1300" dirty="0">
                <a:solidFill>
                  <a:srgbClr val="121B3A"/>
                </a:solidFill>
                <a:latin typeface="Calibri" pitchFamily="34" charset="0"/>
                <a:ea typeface="Calibri" pitchFamily="34" charset="-122"/>
                <a:cs typeface="Calibri" pitchFamily="34" charset="-120"/>
              </a:rPr>
              <a:t>Nombre del proyecto:  EEA Comercial</a:t>
            </a:r>
            <a:endParaRPr lang="en-US" sz="1300" dirty="0"/>
          </a:p>
        </p:txBody>
      </p:sp>
      <p:sp>
        <p:nvSpPr>
          <p:cNvPr id="10" name="Shape 8"/>
          <p:cNvSpPr/>
          <p:nvPr/>
        </p:nvSpPr>
        <p:spPr>
          <a:xfrm>
            <a:off x="411480" y="2322576"/>
            <a:ext cx="310896" cy="310896"/>
          </a:xfrm>
          <a:prstGeom prst="ellipse">
            <a:avLst/>
          </a:prstGeom>
          <a:solidFill>
            <a:srgbClr val="CC6B45"/>
          </a:solidFill>
          <a:ln w="12700">
            <a:solidFill>
              <a:srgbClr val="CC6B45"/>
            </a:solidFill>
            <a:prstDash val="solid"/>
          </a:ln>
        </p:spPr>
        <p:txBody>
          <a:bodyPr/>
          <a:lstStyle/>
          <a:p>
            <a:endParaRPr lang="es-PE"/>
          </a:p>
        </p:txBody>
      </p:sp>
      <p:sp>
        <p:nvSpPr>
          <p:cNvPr id="11" name="Text 9"/>
          <p:cNvSpPr/>
          <p:nvPr/>
        </p:nvSpPr>
        <p:spPr>
          <a:xfrm>
            <a:off x="411480" y="2313432"/>
            <a:ext cx="310896"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822960" y="2331720"/>
            <a:ext cx="7863840" cy="292608"/>
          </a:xfrm>
          <a:prstGeom prst="rect">
            <a:avLst/>
          </a:prstGeom>
          <a:noFill/>
          <a:ln/>
        </p:spPr>
        <p:txBody>
          <a:bodyPr wrap="square" lIns="0" tIns="0" rIns="0" bIns="0" rtlCol="0" anchor="ctr"/>
          <a:lstStyle/>
          <a:p>
            <a:pPr marL="0" indent="0">
              <a:buNone/>
            </a:pPr>
            <a:r>
              <a:rPr lang="en-US" sz="1300" dirty="0">
                <a:solidFill>
                  <a:srgbClr val="121B3A"/>
                </a:solidFill>
                <a:latin typeface="Calibri" pitchFamily="34" charset="0"/>
                <a:ea typeface="Calibri" pitchFamily="34" charset="-122"/>
                <a:cs typeface="Calibri" pitchFamily="34" charset="-120"/>
              </a:rPr>
              <a:t>En 'Project instructions', pegar el texto de abajo</a:t>
            </a:r>
            <a:endParaRPr lang="en-US" sz="1300" dirty="0"/>
          </a:p>
        </p:txBody>
      </p:sp>
      <p:sp>
        <p:nvSpPr>
          <p:cNvPr id="13" name="Shape 11"/>
          <p:cNvSpPr/>
          <p:nvPr/>
        </p:nvSpPr>
        <p:spPr>
          <a:xfrm>
            <a:off x="411480" y="2724912"/>
            <a:ext cx="8321040" cy="1408176"/>
          </a:xfrm>
          <a:prstGeom prst="roundRect">
            <a:avLst>
              <a:gd name="adj" fmla="val 5195"/>
            </a:avLst>
          </a:prstGeom>
          <a:solidFill>
            <a:srgbClr val="121B3A"/>
          </a:solidFill>
          <a:ln w="12700">
            <a:solidFill>
              <a:srgbClr val="121B3A"/>
            </a:solidFill>
            <a:prstDash val="solid"/>
          </a:ln>
        </p:spPr>
        <p:txBody>
          <a:bodyPr/>
          <a:lstStyle/>
          <a:p>
            <a:endParaRPr lang="es-PE"/>
          </a:p>
        </p:txBody>
      </p:sp>
      <p:sp>
        <p:nvSpPr>
          <p:cNvPr id="14" name="Text 12"/>
          <p:cNvSpPr/>
          <p:nvPr/>
        </p:nvSpPr>
        <p:spPr>
          <a:xfrm>
            <a:off x="576072" y="2816352"/>
            <a:ext cx="8046720" cy="182880"/>
          </a:xfrm>
          <a:prstGeom prst="rect">
            <a:avLst/>
          </a:prstGeom>
          <a:noFill/>
          <a:ln/>
        </p:spPr>
        <p:txBody>
          <a:bodyPr wrap="square" lIns="0" tIns="0" rIns="0" bIns="0" rtlCol="0" anchor="ctr"/>
          <a:lstStyle/>
          <a:p>
            <a:pPr marL="0" indent="0">
              <a:buNone/>
            </a:pPr>
            <a:r>
              <a:rPr lang="en-US" sz="800" b="1" kern="0" spc="200" dirty="0">
                <a:solidFill>
                  <a:srgbClr val="F5C842"/>
                </a:solidFill>
                <a:latin typeface="Calibri" pitchFamily="34" charset="0"/>
                <a:ea typeface="Calibri" pitchFamily="34" charset="-122"/>
                <a:cs typeface="Calibri" pitchFamily="34" charset="-120"/>
              </a:rPr>
              <a:t>COPIAR Y PEGAR EN CLAUDE &gt; PROJECT INSTRUCTIONS</a:t>
            </a:r>
            <a:endParaRPr lang="en-US" sz="800" dirty="0"/>
          </a:p>
        </p:txBody>
      </p:sp>
      <p:sp>
        <p:nvSpPr>
          <p:cNvPr id="15" name="Text 13"/>
          <p:cNvSpPr/>
          <p:nvPr/>
        </p:nvSpPr>
        <p:spPr>
          <a:xfrm>
            <a:off x="576072" y="2999232"/>
            <a:ext cx="8046720" cy="1060704"/>
          </a:xfrm>
          <a:prstGeom prst="rect">
            <a:avLst/>
          </a:prstGeom>
          <a:noFill/>
          <a:ln/>
        </p:spPr>
        <p:txBody>
          <a:bodyPr wrap="square" lIns="0" tIns="0" rIns="0" bIns="0" rtlCol="0" anchor="t"/>
          <a:lstStyle/>
          <a:p>
            <a:pPr marL="0" indent="0">
              <a:buNone/>
            </a:pPr>
            <a:r>
              <a:rPr lang="en-US" sz="1000" dirty="0">
                <a:solidFill>
                  <a:srgbClr val="C9CEE8"/>
                </a:solidFill>
                <a:latin typeface="Courier New" pitchFamily="34" charset="0"/>
                <a:ea typeface="Courier New" pitchFamily="34" charset="-122"/>
                <a:cs typeface="Courier New" pitchFamily="34" charset="-120"/>
              </a:rPr>
              <a:t>Soy parte del equipo de Elite Expert Academy (EEA), academia online</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de estética avanzada. Ayúdame a redactar mensajes para leads o alumnas</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usando tono cálido, profesional y directo. Canal: WhatsApp.</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Sin saludos formales extensos ni cierres corporativos.</a:t>
            </a:r>
            <a:endParaRPr lang="en-US" sz="1000" dirty="0"/>
          </a:p>
          <a:p>
            <a:pPr marL="0" indent="0">
              <a:buNone/>
            </a:pPr>
            <a:r>
              <a:rPr lang="en-US" sz="1000" dirty="0">
                <a:solidFill>
                  <a:srgbClr val="C9CEE8"/>
                </a:solidFill>
                <a:latin typeface="Courier New" pitchFamily="34" charset="0"/>
                <a:ea typeface="Courier New" pitchFamily="34" charset="-122"/>
                <a:cs typeface="Courier New" pitchFamily="34" charset="-120"/>
              </a:rPr>
              <a:t>Máximo 120 palabras salvo que indique lo contrario.</a:t>
            </a:r>
            <a:endParaRPr lang="en-US" sz="1000" dirty="0"/>
          </a:p>
        </p:txBody>
      </p:sp>
      <p:sp>
        <p:nvSpPr>
          <p:cNvPr id="16" name="Shape 14"/>
          <p:cNvSpPr/>
          <p:nvPr/>
        </p:nvSpPr>
        <p:spPr>
          <a:xfrm>
            <a:off x="411480" y="3858768"/>
            <a:ext cx="8321040" cy="685800"/>
          </a:xfrm>
          <a:prstGeom prst="roundRect">
            <a:avLst>
              <a:gd name="adj" fmla="val 8000"/>
            </a:avLst>
          </a:prstGeom>
          <a:solidFill>
            <a:srgbClr val="F0F2F8"/>
          </a:solidFill>
          <a:ln w="12700">
            <a:solidFill>
              <a:srgbClr val="1E2D6B"/>
            </a:solidFill>
            <a:prstDash val="solid"/>
          </a:ln>
        </p:spPr>
        <p:txBody>
          <a:bodyPr/>
          <a:lstStyle/>
          <a:p>
            <a:endParaRPr lang="es-PE"/>
          </a:p>
        </p:txBody>
      </p:sp>
      <p:sp>
        <p:nvSpPr>
          <p:cNvPr id="17" name="Text 15"/>
          <p:cNvSpPr/>
          <p:nvPr/>
        </p:nvSpPr>
        <p:spPr>
          <a:xfrm>
            <a:off x="594360" y="3922776"/>
            <a:ext cx="2743200" cy="182880"/>
          </a:xfrm>
          <a:prstGeom prst="rect">
            <a:avLst/>
          </a:prstGeom>
          <a:noFill/>
          <a:ln/>
        </p:spPr>
        <p:txBody>
          <a:bodyPr wrap="square" lIns="0" tIns="0" rIns="0" bIns="0" rtlCol="0" anchor="ctr"/>
          <a:lstStyle/>
          <a:p>
            <a:pPr marL="0" indent="0">
              <a:buNone/>
            </a:pPr>
            <a:r>
              <a:rPr lang="en-US" sz="800" b="1" kern="0" spc="200" dirty="0">
                <a:solidFill>
                  <a:srgbClr val="1E2D6B"/>
                </a:solidFill>
                <a:latin typeface="Calibri" pitchFamily="34" charset="0"/>
                <a:ea typeface="Calibri" pitchFamily="34" charset="-122"/>
                <a:cs typeface="Calibri" pitchFamily="34" charset="-120"/>
              </a:rPr>
              <a:t>VENTAJA DEL PROJECT</a:t>
            </a:r>
            <a:endParaRPr lang="en-US" sz="800" dirty="0"/>
          </a:p>
        </p:txBody>
      </p:sp>
      <p:sp>
        <p:nvSpPr>
          <p:cNvPr id="18" name="Text 16"/>
          <p:cNvSpPr/>
          <p:nvPr/>
        </p:nvSpPr>
        <p:spPr>
          <a:xfrm>
            <a:off x="594360" y="4105656"/>
            <a:ext cx="7955280" cy="384048"/>
          </a:xfrm>
          <a:prstGeom prst="rect">
            <a:avLst/>
          </a:prstGeom>
          <a:noFill/>
          <a:ln/>
        </p:spPr>
        <p:txBody>
          <a:bodyPr wrap="square" lIns="0" tIns="0" rIns="0" bIns="0" rtlCol="0" anchor="ctr"/>
          <a:lstStyle/>
          <a:p>
            <a:pPr marL="0" indent="0">
              <a:buNone/>
            </a:pPr>
            <a:r>
              <a:rPr lang="en-US" sz="1200" i="1" dirty="0">
                <a:solidFill>
                  <a:srgbClr val="121B3A"/>
                </a:solidFill>
                <a:latin typeface="Calibri" pitchFamily="34" charset="0"/>
                <a:ea typeface="Calibri" pitchFamily="34" charset="-122"/>
                <a:cs typeface="Calibri" pitchFamily="34" charset="-120"/>
              </a:rPr>
              <a:t>Claude recuerda el contexto EEA en cada conversación dentro de ese proyecto. No tienes que repetir quién eres ni dónde trabajas.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2 · EL SALTO INTERMEDIO</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Prompt genérico vs. prompt situacional</a:t>
            </a:r>
            <a:endParaRPr lang="en-US" sz="3200" dirty="0"/>
          </a:p>
        </p:txBody>
      </p:sp>
      <p:sp>
        <p:nvSpPr>
          <p:cNvPr id="4" name="Text 2"/>
          <p:cNvSpPr/>
          <p:nvPr/>
        </p:nvSpPr>
        <p:spPr>
          <a:xfrm>
            <a:off x="411480" y="1417320"/>
            <a:ext cx="8321040" cy="320040"/>
          </a:xfrm>
          <a:prstGeom prst="rect">
            <a:avLst/>
          </a:prstGeom>
          <a:noFill/>
          <a:ln/>
        </p:spPr>
        <p:txBody>
          <a:bodyPr wrap="square" lIns="0" tIns="0" rIns="0" bIns="0" rtlCol="0" anchor="ctr"/>
          <a:lstStyle/>
          <a:p>
            <a:pPr marL="0" indent="0">
              <a:buNone/>
            </a:pPr>
            <a:r>
              <a:rPr lang="en-US" sz="1300" i="1" dirty="0">
                <a:solidFill>
                  <a:srgbClr val="5A5F73"/>
                </a:solidFill>
                <a:latin typeface="Calibri" pitchFamily="34" charset="0"/>
                <a:ea typeface="Calibri" pitchFamily="34" charset="-122"/>
                <a:cs typeface="Calibri" pitchFamily="34" charset="-120"/>
              </a:rPr>
              <a:t>El nivel intermedio no es escribir 'mejor' — es poner los datos del lead ANTES de promtear.</a:t>
            </a:r>
            <a:endParaRPr lang="en-US" sz="1300" dirty="0"/>
          </a:p>
        </p:txBody>
      </p:sp>
      <p:sp>
        <p:nvSpPr>
          <p:cNvPr id="5" name="Shape 3"/>
          <p:cNvSpPr/>
          <p:nvPr/>
        </p:nvSpPr>
        <p:spPr>
          <a:xfrm>
            <a:off x="411480" y="1828800"/>
            <a:ext cx="4069080" cy="2331720"/>
          </a:xfrm>
          <a:prstGeom prst="roundRect">
            <a:avLst>
              <a:gd name="adj" fmla="val 3137"/>
            </a:avLst>
          </a:prstGeom>
          <a:solidFill>
            <a:srgbClr val="FBE6E8"/>
          </a:solidFill>
          <a:ln w="19050">
            <a:solidFill>
              <a:srgbClr val="C8434E"/>
            </a:solidFill>
            <a:prstDash val="solid"/>
          </a:ln>
        </p:spPr>
        <p:txBody>
          <a:bodyPr/>
          <a:lstStyle/>
          <a:p>
            <a:endParaRPr lang="es-PE"/>
          </a:p>
        </p:txBody>
      </p:sp>
      <p:sp>
        <p:nvSpPr>
          <p:cNvPr id="6" name="Text 4"/>
          <p:cNvSpPr/>
          <p:nvPr/>
        </p:nvSpPr>
        <p:spPr>
          <a:xfrm>
            <a:off x="594360" y="1920240"/>
            <a:ext cx="3200400" cy="256032"/>
          </a:xfrm>
          <a:prstGeom prst="rect">
            <a:avLst/>
          </a:prstGeom>
          <a:noFill/>
          <a:ln/>
        </p:spPr>
        <p:txBody>
          <a:bodyPr wrap="square" lIns="0" tIns="0" rIns="0" bIns="0" rtlCol="0" anchor="ctr"/>
          <a:lstStyle/>
          <a:p>
            <a:pPr marL="0" indent="0">
              <a:buNone/>
            </a:pPr>
            <a:r>
              <a:rPr lang="en-US" sz="1000" b="1" kern="0" spc="200" dirty="0">
                <a:solidFill>
                  <a:srgbClr val="C8434E"/>
                </a:solidFill>
                <a:latin typeface="Calibri" pitchFamily="34" charset="0"/>
                <a:ea typeface="Calibri" pitchFamily="34" charset="-122"/>
                <a:cs typeface="Calibri" pitchFamily="34" charset="-120"/>
              </a:rPr>
              <a:t>✗  GENÉRICO</a:t>
            </a:r>
            <a:endParaRPr lang="en-US" sz="1000" dirty="0"/>
          </a:p>
        </p:txBody>
      </p:sp>
      <p:sp>
        <p:nvSpPr>
          <p:cNvPr id="7" name="Text 5"/>
          <p:cNvSpPr/>
          <p:nvPr/>
        </p:nvSpPr>
        <p:spPr>
          <a:xfrm>
            <a:off x="594360" y="2176272"/>
            <a:ext cx="3657600" cy="274320"/>
          </a:xfrm>
          <a:prstGeom prst="rect">
            <a:avLst/>
          </a:prstGeom>
          <a:noFill/>
          <a:ln/>
        </p:spPr>
        <p:txBody>
          <a:bodyPr wrap="square" lIns="0" tIns="0" rIns="0" bIns="0" rtlCol="0" anchor="ctr"/>
          <a:lstStyle/>
          <a:p>
            <a:pPr marL="0" indent="0">
              <a:buNone/>
            </a:pPr>
            <a:r>
              <a:rPr lang="en-US" sz="1000" i="1" dirty="0">
                <a:solidFill>
                  <a:srgbClr val="C8434E"/>
                </a:solidFill>
                <a:latin typeface="Calibri" pitchFamily="34" charset="0"/>
                <a:ea typeface="Calibri" pitchFamily="34" charset="-122"/>
                <a:cs typeface="Calibri" pitchFamily="34" charset="-120"/>
              </a:rPr>
              <a:t>Resultado: predecible, plano, sin datos reales del lead.</a:t>
            </a:r>
            <a:endParaRPr lang="en-US" sz="1000" dirty="0"/>
          </a:p>
        </p:txBody>
      </p:sp>
      <p:sp>
        <p:nvSpPr>
          <p:cNvPr id="8" name="Shape 6"/>
          <p:cNvSpPr/>
          <p:nvPr/>
        </p:nvSpPr>
        <p:spPr>
          <a:xfrm>
            <a:off x="594360" y="2487168"/>
            <a:ext cx="3657600" cy="640080"/>
          </a:xfrm>
          <a:prstGeom prst="roundRect">
            <a:avLst>
              <a:gd name="adj" fmla="val 7143"/>
            </a:avLst>
          </a:prstGeom>
          <a:solidFill>
            <a:srgbClr val="121B3A"/>
          </a:solidFill>
          <a:ln w="12700">
            <a:solidFill>
              <a:srgbClr val="121B3A"/>
            </a:solidFill>
            <a:prstDash val="solid"/>
          </a:ln>
        </p:spPr>
        <p:txBody>
          <a:bodyPr/>
          <a:lstStyle/>
          <a:p>
            <a:endParaRPr lang="es-PE"/>
          </a:p>
        </p:txBody>
      </p:sp>
      <p:sp>
        <p:nvSpPr>
          <p:cNvPr id="9" name="Text 7"/>
          <p:cNvSpPr/>
          <p:nvPr/>
        </p:nvSpPr>
        <p:spPr>
          <a:xfrm>
            <a:off x="713232" y="2542032"/>
            <a:ext cx="3429000" cy="530352"/>
          </a:xfrm>
          <a:prstGeom prst="rect">
            <a:avLst/>
          </a:prstGeom>
          <a:noFill/>
          <a:ln/>
        </p:spPr>
        <p:txBody>
          <a:bodyPr wrap="square" lIns="0" tIns="0" rIns="0" bIns="0" rtlCol="0" anchor="ctr"/>
          <a:lstStyle/>
          <a:p>
            <a:pPr marL="0" indent="0">
              <a:buNone/>
            </a:pPr>
            <a:r>
              <a:rPr lang="en-US" sz="1100" dirty="0">
                <a:solidFill>
                  <a:srgbClr val="C9CEE8"/>
                </a:solidFill>
                <a:latin typeface="Courier New" pitchFamily="34" charset="0"/>
                <a:ea typeface="Courier New" pitchFamily="34" charset="-122"/>
                <a:cs typeface="Courier New" pitchFamily="34" charset="-120"/>
              </a:rPr>
              <a:t>"Escríbeme un mensaje para</a:t>
            </a:r>
            <a:endParaRPr lang="en-US" sz="1100" dirty="0"/>
          </a:p>
          <a:p>
            <a:pPr marL="0" indent="0">
              <a:buNone/>
            </a:pPr>
            <a:r>
              <a:rPr lang="en-US" sz="1100" dirty="0">
                <a:solidFill>
                  <a:srgbClr val="C9CEE8"/>
                </a:solidFill>
                <a:latin typeface="Courier New" pitchFamily="34" charset="0"/>
                <a:ea typeface="Courier New" pitchFamily="34" charset="-122"/>
                <a:cs typeface="Courier New" pitchFamily="34" charset="-120"/>
              </a:rPr>
              <a:t>reactivar un lead que no contesta."</a:t>
            </a:r>
            <a:endParaRPr lang="en-US" sz="1100" dirty="0"/>
          </a:p>
        </p:txBody>
      </p:sp>
      <p:sp>
        <p:nvSpPr>
          <p:cNvPr id="10" name="Text 8"/>
          <p:cNvSpPr/>
          <p:nvPr/>
        </p:nvSpPr>
        <p:spPr>
          <a:xfrm>
            <a:off x="594360" y="3182112"/>
            <a:ext cx="3657600" cy="731520"/>
          </a:xfrm>
          <a:prstGeom prst="rect">
            <a:avLst/>
          </a:prstGeom>
          <a:noFill/>
          <a:ln/>
        </p:spPr>
        <p:txBody>
          <a:bodyPr wrap="square" lIns="50800" tIns="50800" rIns="50800" bIns="50800" rtlCol="0" anchor="ctr"/>
          <a:lstStyle/>
          <a:p>
            <a:pPr marL="0" indent="0">
              <a:buNone/>
            </a:pPr>
            <a:r>
              <a:rPr lang="en-US" sz="1100" dirty="0">
                <a:solidFill>
                  <a:srgbClr val="7A2228"/>
                </a:solidFill>
                <a:latin typeface="Calibri" pitchFamily="34" charset="0"/>
                <a:ea typeface="Calibri" pitchFamily="34" charset="-122"/>
                <a:cs typeface="Calibri" pitchFamily="34" charset="-120"/>
              </a:rPr>
              <a:t>¿Qué lead? ¿De qué campaña? ¿Cuántos días? ¿Qué dijo en sus notas? La IA no sabe → respuesta genérica.</a:t>
            </a:r>
            <a:endParaRPr lang="en-US" sz="1100" dirty="0"/>
          </a:p>
        </p:txBody>
      </p:sp>
      <p:sp>
        <p:nvSpPr>
          <p:cNvPr id="11" name="Shape 9"/>
          <p:cNvSpPr/>
          <p:nvPr/>
        </p:nvSpPr>
        <p:spPr>
          <a:xfrm>
            <a:off x="4663440" y="1828800"/>
            <a:ext cx="4069080" cy="2331720"/>
          </a:xfrm>
          <a:prstGeom prst="roundRect">
            <a:avLst>
              <a:gd name="adj" fmla="val 3137"/>
            </a:avLst>
          </a:prstGeom>
          <a:solidFill>
            <a:srgbClr val="E6F4EA"/>
          </a:solidFill>
          <a:ln w="19050">
            <a:solidFill>
              <a:srgbClr val="1E7A34"/>
            </a:solidFill>
            <a:prstDash val="solid"/>
          </a:ln>
        </p:spPr>
        <p:txBody>
          <a:bodyPr/>
          <a:lstStyle/>
          <a:p>
            <a:endParaRPr lang="es-PE"/>
          </a:p>
        </p:txBody>
      </p:sp>
      <p:sp>
        <p:nvSpPr>
          <p:cNvPr id="12" name="Text 10"/>
          <p:cNvSpPr/>
          <p:nvPr/>
        </p:nvSpPr>
        <p:spPr>
          <a:xfrm>
            <a:off x="4846320" y="1920240"/>
            <a:ext cx="3474720" cy="256032"/>
          </a:xfrm>
          <a:prstGeom prst="rect">
            <a:avLst/>
          </a:prstGeom>
          <a:noFill/>
          <a:ln/>
        </p:spPr>
        <p:txBody>
          <a:bodyPr wrap="square" lIns="0" tIns="0" rIns="0" bIns="0" rtlCol="0" anchor="ctr"/>
          <a:lstStyle/>
          <a:p>
            <a:pPr marL="0" indent="0">
              <a:buNone/>
            </a:pPr>
            <a:r>
              <a:rPr lang="en-US" sz="1000" b="1" kern="0" spc="200" dirty="0">
                <a:solidFill>
                  <a:srgbClr val="1E7A34"/>
                </a:solidFill>
                <a:latin typeface="Calibri" pitchFamily="34" charset="0"/>
                <a:ea typeface="Calibri" pitchFamily="34" charset="-122"/>
                <a:cs typeface="Calibri" pitchFamily="34" charset="-120"/>
              </a:rPr>
              <a:t>✓  SITUACIONAL</a:t>
            </a:r>
            <a:endParaRPr lang="en-US" sz="1000" dirty="0"/>
          </a:p>
        </p:txBody>
      </p:sp>
      <p:sp>
        <p:nvSpPr>
          <p:cNvPr id="13" name="Text 11"/>
          <p:cNvSpPr/>
          <p:nvPr/>
        </p:nvSpPr>
        <p:spPr>
          <a:xfrm>
            <a:off x="4846320" y="2176272"/>
            <a:ext cx="3657600" cy="274320"/>
          </a:xfrm>
          <a:prstGeom prst="rect">
            <a:avLst/>
          </a:prstGeom>
          <a:noFill/>
          <a:ln/>
        </p:spPr>
        <p:txBody>
          <a:bodyPr wrap="square" lIns="0" tIns="0" rIns="0" bIns="0" rtlCol="0" anchor="ctr"/>
          <a:lstStyle/>
          <a:p>
            <a:pPr marL="0" indent="0">
              <a:buNone/>
            </a:pPr>
            <a:r>
              <a:rPr lang="en-US" sz="1000" i="1" dirty="0">
                <a:solidFill>
                  <a:srgbClr val="1E7A34"/>
                </a:solidFill>
                <a:latin typeface="Calibri" pitchFamily="34" charset="0"/>
                <a:ea typeface="Calibri" pitchFamily="34" charset="-122"/>
                <a:cs typeface="Calibri" pitchFamily="34" charset="-120"/>
              </a:rPr>
              <a:t>Resultado: usable esta tarde, con datos reales.</a:t>
            </a:r>
            <a:endParaRPr lang="en-US" sz="1000" dirty="0"/>
          </a:p>
        </p:txBody>
      </p:sp>
      <p:sp>
        <p:nvSpPr>
          <p:cNvPr id="14" name="Shape 12"/>
          <p:cNvSpPr/>
          <p:nvPr/>
        </p:nvSpPr>
        <p:spPr>
          <a:xfrm>
            <a:off x="4846320" y="2487168"/>
            <a:ext cx="3657600" cy="640080"/>
          </a:xfrm>
          <a:prstGeom prst="roundRect">
            <a:avLst>
              <a:gd name="adj" fmla="val 7143"/>
            </a:avLst>
          </a:prstGeom>
          <a:solidFill>
            <a:srgbClr val="121B3A"/>
          </a:solidFill>
          <a:ln w="12700">
            <a:solidFill>
              <a:srgbClr val="121B3A"/>
            </a:solidFill>
            <a:prstDash val="solid"/>
          </a:ln>
        </p:spPr>
        <p:txBody>
          <a:bodyPr/>
          <a:lstStyle/>
          <a:p>
            <a:endParaRPr lang="es-PE"/>
          </a:p>
        </p:txBody>
      </p:sp>
      <p:sp>
        <p:nvSpPr>
          <p:cNvPr id="15" name="Text 13"/>
          <p:cNvSpPr/>
          <p:nvPr/>
        </p:nvSpPr>
        <p:spPr>
          <a:xfrm>
            <a:off x="4956048" y="2542032"/>
            <a:ext cx="3429000" cy="530352"/>
          </a:xfrm>
          <a:prstGeom prst="rect">
            <a:avLst/>
          </a:prstGeom>
          <a:noFill/>
          <a:ln/>
        </p:spPr>
        <p:txBody>
          <a:bodyPr wrap="square" lIns="0" tIns="0" rIns="0" bIns="0" rtlCol="0" anchor="ctr"/>
          <a:lstStyle/>
          <a:p>
            <a:pPr marL="0" indent="0">
              <a:buNone/>
            </a:pPr>
            <a:r>
              <a:rPr lang="en-US" sz="1100" dirty="0">
                <a:solidFill>
                  <a:srgbClr val="C9CEE8"/>
                </a:solidFill>
                <a:latin typeface="Courier New" pitchFamily="34" charset="0"/>
                <a:ea typeface="Courier New" pitchFamily="34" charset="-122"/>
                <a:cs typeface="Courier New" pitchFamily="34" charset="-120"/>
              </a:rPr>
              <a:t>"Lead: Andrea M. | Campaña: Webinar</a:t>
            </a:r>
            <a:endParaRPr lang="en-US" sz="1100" dirty="0"/>
          </a:p>
          <a:p>
            <a:pPr marL="0" indent="0">
              <a:buNone/>
            </a:pPr>
            <a:r>
              <a:rPr lang="en-US" sz="1100" dirty="0">
                <a:solidFill>
                  <a:srgbClr val="C9CEE8"/>
                </a:solidFill>
                <a:latin typeface="Courier New" pitchFamily="34" charset="0"/>
                <a:ea typeface="Courier New" pitchFamily="34" charset="-122"/>
                <a:cs typeface="Courier New" pitchFamily="34" charset="-120"/>
              </a:rPr>
              <a:t>Masterclass | 18 días sin respuesta…"</a:t>
            </a:r>
            <a:endParaRPr lang="en-US" sz="1100" dirty="0"/>
          </a:p>
        </p:txBody>
      </p:sp>
      <p:sp>
        <p:nvSpPr>
          <p:cNvPr id="16" name="Text 14"/>
          <p:cNvSpPr/>
          <p:nvPr/>
        </p:nvSpPr>
        <p:spPr>
          <a:xfrm>
            <a:off x="4846320" y="3182112"/>
            <a:ext cx="3657600" cy="731520"/>
          </a:xfrm>
          <a:prstGeom prst="rect">
            <a:avLst/>
          </a:prstGeom>
          <a:noFill/>
          <a:ln/>
        </p:spPr>
        <p:txBody>
          <a:bodyPr wrap="square" lIns="50800" tIns="50800" rIns="50800" bIns="50800" rtlCol="0" anchor="ctr"/>
          <a:lstStyle/>
          <a:p>
            <a:pPr marL="0" indent="0">
              <a:buNone/>
            </a:pPr>
            <a:r>
              <a:rPr lang="en-US" sz="1100" dirty="0">
                <a:solidFill>
                  <a:srgbClr val="1A4D23"/>
                </a:solidFill>
                <a:latin typeface="Calibri" pitchFamily="34" charset="0"/>
                <a:ea typeface="Calibri" pitchFamily="34" charset="-122"/>
                <a:cs typeface="Calibri" pitchFamily="34" charset="-120"/>
              </a:rPr>
              <a:t>Nombre, campaña, estado, días, nota del CSV → la IA tiene contexto real → mensaje específico.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9"/>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2 · ESTRUCTURA</a:t>
            </a:r>
            <a:endParaRPr lang="en-US" sz="900" dirty="0"/>
          </a:p>
        </p:txBody>
      </p:sp>
      <p:sp>
        <p:nvSpPr>
          <p:cNvPr id="3" name="Text 1"/>
          <p:cNvSpPr/>
          <p:nvPr/>
        </p:nvSpPr>
        <p:spPr>
          <a:xfrm>
            <a:off x="411480" y="566928"/>
            <a:ext cx="8321040" cy="68580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Las 4 partes del prompt situacional</a:t>
            </a:r>
            <a:endParaRPr lang="en-US" sz="3200" dirty="0"/>
          </a:p>
        </p:txBody>
      </p:sp>
      <p:sp>
        <p:nvSpPr>
          <p:cNvPr id="4" name="Shape 2"/>
          <p:cNvSpPr/>
          <p:nvPr/>
        </p:nvSpPr>
        <p:spPr>
          <a:xfrm>
            <a:off x="411480" y="1371600"/>
            <a:ext cx="4069080" cy="1600200"/>
          </a:xfrm>
          <a:prstGeom prst="roundRect">
            <a:avLst>
              <a:gd name="adj" fmla="val 4571"/>
            </a:avLst>
          </a:prstGeom>
          <a:solidFill>
            <a:srgbClr val="FFFFFF"/>
          </a:solidFill>
          <a:ln w="12700">
            <a:solidFill>
              <a:srgbClr val="E5E5EA"/>
            </a:solidFill>
            <a:prstDash val="solid"/>
          </a:ln>
        </p:spPr>
        <p:txBody>
          <a:bodyPr/>
          <a:lstStyle/>
          <a:p>
            <a:endParaRPr lang="es-PE"/>
          </a:p>
        </p:txBody>
      </p:sp>
      <p:sp>
        <p:nvSpPr>
          <p:cNvPr id="5" name="Shape 3"/>
          <p:cNvSpPr/>
          <p:nvPr/>
        </p:nvSpPr>
        <p:spPr>
          <a:xfrm>
            <a:off x="576072" y="1536192"/>
            <a:ext cx="347472" cy="347472"/>
          </a:xfrm>
          <a:prstGeom prst="ellipse">
            <a:avLst/>
          </a:prstGeom>
          <a:solidFill>
            <a:srgbClr val="121B3A"/>
          </a:solidFill>
          <a:ln w="12700">
            <a:solidFill>
              <a:srgbClr val="121B3A"/>
            </a:solidFill>
            <a:prstDash val="solid"/>
          </a:ln>
        </p:spPr>
        <p:txBody>
          <a:bodyPr/>
          <a:lstStyle/>
          <a:p>
            <a:endParaRPr lang="es-PE"/>
          </a:p>
        </p:txBody>
      </p:sp>
      <p:sp>
        <p:nvSpPr>
          <p:cNvPr id="6" name="Text 4"/>
          <p:cNvSpPr/>
          <p:nvPr/>
        </p:nvSpPr>
        <p:spPr>
          <a:xfrm>
            <a:off x="576072" y="1536192"/>
            <a:ext cx="347472" cy="347472"/>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05840" y="1554480"/>
            <a:ext cx="3200400" cy="256032"/>
          </a:xfrm>
          <a:prstGeom prst="rect">
            <a:avLst/>
          </a:prstGeom>
          <a:noFill/>
          <a:ln/>
        </p:spPr>
        <p:txBody>
          <a:bodyPr wrap="square" lIns="0" tIns="0" rIns="0" bIns="0" rtlCol="0" anchor="ctr"/>
          <a:lstStyle/>
          <a:p>
            <a:pPr marL="0" indent="0">
              <a:buNone/>
            </a:pPr>
            <a:r>
              <a:rPr lang="en-US" sz="1100" b="1" kern="0" spc="100" dirty="0">
                <a:solidFill>
                  <a:srgbClr val="121B3A"/>
                </a:solidFill>
                <a:latin typeface="Calibri" pitchFamily="34" charset="0"/>
                <a:ea typeface="Calibri" pitchFamily="34" charset="-122"/>
                <a:cs typeface="Calibri" pitchFamily="34" charset="-120"/>
              </a:rPr>
              <a:t>CONTEXTO</a:t>
            </a:r>
            <a:endParaRPr lang="en-US" sz="1100" dirty="0"/>
          </a:p>
        </p:txBody>
      </p:sp>
      <p:sp>
        <p:nvSpPr>
          <p:cNvPr id="8" name="Text 6"/>
          <p:cNvSpPr/>
          <p:nvPr/>
        </p:nvSpPr>
        <p:spPr>
          <a:xfrm>
            <a:off x="594360" y="1883664"/>
            <a:ext cx="3657600" cy="256032"/>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¿Quién eres y dónde trabajas?</a:t>
            </a:r>
            <a:endParaRPr lang="en-US" sz="1100" dirty="0"/>
          </a:p>
        </p:txBody>
      </p:sp>
      <p:sp>
        <p:nvSpPr>
          <p:cNvPr id="9" name="Shape 7"/>
          <p:cNvSpPr/>
          <p:nvPr/>
        </p:nvSpPr>
        <p:spPr>
          <a:xfrm>
            <a:off x="594360" y="2194560"/>
            <a:ext cx="3657600" cy="658368"/>
          </a:xfrm>
          <a:prstGeom prst="roundRect">
            <a:avLst>
              <a:gd name="adj" fmla="val 6944"/>
            </a:avLst>
          </a:prstGeom>
          <a:solidFill>
            <a:srgbClr val="121B3A"/>
          </a:solidFill>
          <a:ln w="12700">
            <a:solidFill>
              <a:srgbClr val="121B3A"/>
            </a:solidFill>
            <a:prstDash val="solid"/>
          </a:ln>
        </p:spPr>
        <p:txBody>
          <a:bodyPr/>
          <a:lstStyle/>
          <a:p>
            <a:endParaRPr lang="es-PE"/>
          </a:p>
        </p:txBody>
      </p:sp>
      <p:sp>
        <p:nvSpPr>
          <p:cNvPr id="10" name="Text 8"/>
          <p:cNvSpPr/>
          <p:nvPr/>
        </p:nvSpPr>
        <p:spPr>
          <a:xfrm>
            <a:off x="704088" y="2249424"/>
            <a:ext cx="3456432" cy="54864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"Soy agente comercial de EEA, academia online de estética. Canal: WhatsApp."</a:t>
            </a:r>
            <a:endParaRPr lang="en-US" sz="950" dirty="0"/>
          </a:p>
        </p:txBody>
      </p:sp>
      <p:sp>
        <p:nvSpPr>
          <p:cNvPr id="11" name="Shape 9"/>
          <p:cNvSpPr/>
          <p:nvPr/>
        </p:nvSpPr>
        <p:spPr>
          <a:xfrm>
            <a:off x="4663440" y="1371600"/>
            <a:ext cx="4069080" cy="1600200"/>
          </a:xfrm>
          <a:prstGeom prst="roundRect">
            <a:avLst>
              <a:gd name="adj" fmla="val 4571"/>
            </a:avLst>
          </a:prstGeom>
          <a:solidFill>
            <a:srgbClr val="FFFFFF"/>
          </a:solidFill>
          <a:ln w="12700">
            <a:solidFill>
              <a:srgbClr val="E5E5EA"/>
            </a:solidFill>
            <a:prstDash val="solid"/>
          </a:ln>
        </p:spPr>
        <p:txBody>
          <a:bodyPr/>
          <a:lstStyle/>
          <a:p>
            <a:endParaRPr lang="es-PE"/>
          </a:p>
        </p:txBody>
      </p:sp>
      <p:sp>
        <p:nvSpPr>
          <p:cNvPr id="12" name="Shape 10"/>
          <p:cNvSpPr/>
          <p:nvPr/>
        </p:nvSpPr>
        <p:spPr>
          <a:xfrm>
            <a:off x="4828032" y="1536192"/>
            <a:ext cx="347472" cy="347472"/>
          </a:xfrm>
          <a:prstGeom prst="ellipse">
            <a:avLst/>
          </a:prstGeom>
          <a:solidFill>
            <a:srgbClr val="121B3A"/>
          </a:solidFill>
          <a:ln w="12700">
            <a:solidFill>
              <a:srgbClr val="121B3A"/>
            </a:solidFill>
            <a:prstDash val="solid"/>
          </a:ln>
        </p:spPr>
        <p:txBody>
          <a:bodyPr/>
          <a:lstStyle/>
          <a:p>
            <a:endParaRPr lang="es-PE"/>
          </a:p>
        </p:txBody>
      </p:sp>
      <p:sp>
        <p:nvSpPr>
          <p:cNvPr id="13" name="Text 11"/>
          <p:cNvSpPr/>
          <p:nvPr/>
        </p:nvSpPr>
        <p:spPr>
          <a:xfrm>
            <a:off x="4828032" y="1536192"/>
            <a:ext cx="347472" cy="347472"/>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5257800" y="1554480"/>
            <a:ext cx="3200400" cy="256032"/>
          </a:xfrm>
          <a:prstGeom prst="rect">
            <a:avLst/>
          </a:prstGeom>
          <a:noFill/>
          <a:ln/>
        </p:spPr>
        <p:txBody>
          <a:bodyPr wrap="square" lIns="0" tIns="0" rIns="0" bIns="0" rtlCol="0" anchor="ctr"/>
          <a:lstStyle/>
          <a:p>
            <a:pPr marL="0" indent="0">
              <a:buNone/>
            </a:pPr>
            <a:r>
              <a:rPr lang="en-US" sz="1100" b="1" kern="0" spc="100" dirty="0">
                <a:solidFill>
                  <a:srgbClr val="121B3A"/>
                </a:solidFill>
                <a:latin typeface="Calibri" pitchFamily="34" charset="0"/>
                <a:ea typeface="Calibri" pitchFamily="34" charset="-122"/>
                <a:cs typeface="Calibri" pitchFamily="34" charset="-120"/>
              </a:rPr>
              <a:t>DATOS DEL LEAD</a:t>
            </a:r>
            <a:endParaRPr lang="en-US" sz="1100" dirty="0"/>
          </a:p>
        </p:txBody>
      </p:sp>
      <p:sp>
        <p:nvSpPr>
          <p:cNvPr id="15" name="Text 13"/>
          <p:cNvSpPr/>
          <p:nvPr/>
        </p:nvSpPr>
        <p:spPr>
          <a:xfrm>
            <a:off x="4846320" y="1883664"/>
            <a:ext cx="3657600" cy="256032"/>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Campaña, estado, días, nota</a:t>
            </a:r>
            <a:endParaRPr lang="en-US" sz="1100" dirty="0"/>
          </a:p>
        </p:txBody>
      </p:sp>
      <p:sp>
        <p:nvSpPr>
          <p:cNvPr id="16" name="Shape 14"/>
          <p:cNvSpPr/>
          <p:nvPr/>
        </p:nvSpPr>
        <p:spPr>
          <a:xfrm>
            <a:off x="4846320" y="2194560"/>
            <a:ext cx="3657600" cy="658368"/>
          </a:xfrm>
          <a:prstGeom prst="roundRect">
            <a:avLst>
              <a:gd name="adj" fmla="val 6944"/>
            </a:avLst>
          </a:prstGeom>
          <a:solidFill>
            <a:srgbClr val="121B3A"/>
          </a:solidFill>
          <a:ln w="12700">
            <a:solidFill>
              <a:srgbClr val="121B3A"/>
            </a:solidFill>
            <a:prstDash val="solid"/>
          </a:ln>
        </p:spPr>
        <p:txBody>
          <a:bodyPr/>
          <a:lstStyle/>
          <a:p>
            <a:endParaRPr lang="es-PE"/>
          </a:p>
        </p:txBody>
      </p:sp>
      <p:sp>
        <p:nvSpPr>
          <p:cNvPr id="17" name="Text 15"/>
          <p:cNvSpPr/>
          <p:nvPr/>
        </p:nvSpPr>
        <p:spPr>
          <a:xfrm>
            <a:off x="4956048" y="2249424"/>
            <a:ext cx="3456432" cy="54864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"Lead: Carla V. | Campaña: Ads Abril | Estado: Seguimiento | 5 días | Nota: dijo 'lo pienso'"</a:t>
            </a:r>
            <a:endParaRPr lang="en-US" sz="950" dirty="0"/>
          </a:p>
        </p:txBody>
      </p:sp>
      <p:sp>
        <p:nvSpPr>
          <p:cNvPr id="18" name="Shape 16"/>
          <p:cNvSpPr/>
          <p:nvPr/>
        </p:nvSpPr>
        <p:spPr>
          <a:xfrm>
            <a:off x="411480" y="3108960"/>
            <a:ext cx="4069080" cy="1600200"/>
          </a:xfrm>
          <a:prstGeom prst="roundRect">
            <a:avLst>
              <a:gd name="adj" fmla="val 4571"/>
            </a:avLst>
          </a:prstGeom>
          <a:solidFill>
            <a:srgbClr val="FFFFFF"/>
          </a:solidFill>
          <a:ln w="12700">
            <a:solidFill>
              <a:srgbClr val="E5E5EA"/>
            </a:solidFill>
            <a:prstDash val="solid"/>
          </a:ln>
        </p:spPr>
        <p:txBody>
          <a:bodyPr/>
          <a:lstStyle/>
          <a:p>
            <a:endParaRPr lang="es-PE"/>
          </a:p>
        </p:txBody>
      </p:sp>
      <p:sp>
        <p:nvSpPr>
          <p:cNvPr id="19" name="Shape 17"/>
          <p:cNvSpPr/>
          <p:nvPr/>
        </p:nvSpPr>
        <p:spPr>
          <a:xfrm>
            <a:off x="576072" y="3273552"/>
            <a:ext cx="347472" cy="347472"/>
          </a:xfrm>
          <a:prstGeom prst="ellipse">
            <a:avLst/>
          </a:prstGeom>
          <a:solidFill>
            <a:srgbClr val="121B3A"/>
          </a:solidFill>
          <a:ln w="12700">
            <a:solidFill>
              <a:srgbClr val="121B3A"/>
            </a:solidFill>
            <a:prstDash val="solid"/>
          </a:ln>
        </p:spPr>
        <p:txBody>
          <a:bodyPr/>
          <a:lstStyle/>
          <a:p>
            <a:endParaRPr lang="es-PE"/>
          </a:p>
        </p:txBody>
      </p:sp>
      <p:sp>
        <p:nvSpPr>
          <p:cNvPr id="20" name="Text 18"/>
          <p:cNvSpPr/>
          <p:nvPr/>
        </p:nvSpPr>
        <p:spPr>
          <a:xfrm>
            <a:off x="576072" y="3273552"/>
            <a:ext cx="347472" cy="347472"/>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1005840" y="3291840"/>
            <a:ext cx="3200400" cy="256032"/>
          </a:xfrm>
          <a:prstGeom prst="rect">
            <a:avLst/>
          </a:prstGeom>
          <a:noFill/>
          <a:ln/>
        </p:spPr>
        <p:txBody>
          <a:bodyPr wrap="square" lIns="0" tIns="0" rIns="0" bIns="0" rtlCol="0" anchor="ctr"/>
          <a:lstStyle/>
          <a:p>
            <a:pPr marL="0" indent="0">
              <a:buNone/>
            </a:pPr>
            <a:r>
              <a:rPr lang="en-US" sz="1100" b="1" kern="0" spc="100" dirty="0">
                <a:solidFill>
                  <a:srgbClr val="121B3A"/>
                </a:solidFill>
                <a:latin typeface="Calibri" pitchFamily="34" charset="0"/>
                <a:ea typeface="Calibri" pitchFamily="34" charset="-122"/>
                <a:cs typeface="Calibri" pitchFamily="34" charset="-120"/>
              </a:rPr>
              <a:t>INSTRUCCIÓN</a:t>
            </a:r>
            <a:endParaRPr lang="en-US" sz="1100" dirty="0"/>
          </a:p>
        </p:txBody>
      </p:sp>
      <p:sp>
        <p:nvSpPr>
          <p:cNvPr id="22" name="Text 20"/>
          <p:cNvSpPr/>
          <p:nvPr/>
        </p:nvSpPr>
        <p:spPr>
          <a:xfrm>
            <a:off x="594360" y="3621024"/>
            <a:ext cx="3657600" cy="256032"/>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Qué tipo de mensaje y qué objetivo</a:t>
            </a:r>
            <a:endParaRPr lang="en-US" sz="1100" dirty="0"/>
          </a:p>
        </p:txBody>
      </p:sp>
      <p:sp>
        <p:nvSpPr>
          <p:cNvPr id="23" name="Shape 21"/>
          <p:cNvSpPr/>
          <p:nvPr/>
        </p:nvSpPr>
        <p:spPr>
          <a:xfrm>
            <a:off x="594360" y="3931920"/>
            <a:ext cx="3657600" cy="658368"/>
          </a:xfrm>
          <a:prstGeom prst="roundRect">
            <a:avLst>
              <a:gd name="adj" fmla="val 6944"/>
            </a:avLst>
          </a:prstGeom>
          <a:solidFill>
            <a:srgbClr val="121B3A"/>
          </a:solidFill>
          <a:ln w="12700">
            <a:solidFill>
              <a:srgbClr val="121B3A"/>
            </a:solidFill>
            <a:prstDash val="solid"/>
          </a:ln>
        </p:spPr>
        <p:txBody>
          <a:bodyPr/>
          <a:lstStyle/>
          <a:p>
            <a:endParaRPr lang="es-PE"/>
          </a:p>
        </p:txBody>
      </p:sp>
      <p:sp>
        <p:nvSpPr>
          <p:cNvPr id="24" name="Text 22"/>
          <p:cNvSpPr/>
          <p:nvPr/>
        </p:nvSpPr>
        <p:spPr>
          <a:xfrm>
            <a:off x="704088" y="3986784"/>
            <a:ext cx="3456432" cy="54864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"Escribe un mensaje de seguimiento que responda la objeción sin sonar insistente."</a:t>
            </a:r>
            <a:endParaRPr lang="en-US" sz="950" dirty="0"/>
          </a:p>
        </p:txBody>
      </p:sp>
      <p:sp>
        <p:nvSpPr>
          <p:cNvPr id="25" name="Shape 23"/>
          <p:cNvSpPr/>
          <p:nvPr/>
        </p:nvSpPr>
        <p:spPr>
          <a:xfrm>
            <a:off x="4663440" y="3108960"/>
            <a:ext cx="4069080" cy="1600200"/>
          </a:xfrm>
          <a:prstGeom prst="roundRect">
            <a:avLst>
              <a:gd name="adj" fmla="val 4571"/>
            </a:avLst>
          </a:prstGeom>
          <a:solidFill>
            <a:srgbClr val="FFFFFF"/>
          </a:solidFill>
          <a:ln w="12700">
            <a:solidFill>
              <a:srgbClr val="E5E5EA"/>
            </a:solidFill>
            <a:prstDash val="solid"/>
          </a:ln>
        </p:spPr>
        <p:txBody>
          <a:bodyPr/>
          <a:lstStyle/>
          <a:p>
            <a:endParaRPr lang="es-PE"/>
          </a:p>
        </p:txBody>
      </p:sp>
      <p:sp>
        <p:nvSpPr>
          <p:cNvPr id="26" name="Shape 24"/>
          <p:cNvSpPr/>
          <p:nvPr/>
        </p:nvSpPr>
        <p:spPr>
          <a:xfrm>
            <a:off x="4828032" y="3273552"/>
            <a:ext cx="347472" cy="347472"/>
          </a:xfrm>
          <a:prstGeom prst="ellipse">
            <a:avLst/>
          </a:prstGeom>
          <a:solidFill>
            <a:srgbClr val="121B3A"/>
          </a:solidFill>
          <a:ln w="12700">
            <a:solidFill>
              <a:srgbClr val="121B3A"/>
            </a:solidFill>
            <a:prstDash val="solid"/>
          </a:ln>
        </p:spPr>
        <p:txBody>
          <a:bodyPr/>
          <a:lstStyle/>
          <a:p>
            <a:endParaRPr lang="es-PE"/>
          </a:p>
        </p:txBody>
      </p:sp>
      <p:sp>
        <p:nvSpPr>
          <p:cNvPr id="27" name="Text 25"/>
          <p:cNvSpPr/>
          <p:nvPr/>
        </p:nvSpPr>
        <p:spPr>
          <a:xfrm>
            <a:off x="4828032" y="3273552"/>
            <a:ext cx="347472" cy="347472"/>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5257800" y="3291840"/>
            <a:ext cx="3200400" cy="256032"/>
          </a:xfrm>
          <a:prstGeom prst="rect">
            <a:avLst/>
          </a:prstGeom>
          <a:noFill/>
          <a:ln/>
        </p:spPr>
        <p:txBody>
          <a:bodyPr wrap="square" lIns="0" tIns="0" rIns="0" bIns="0" rtlCol="0" anchor="ctr"/>
          <a:lstStyle/>
          <a:p>
            <a:pPr marL="0" indent="0">
              <a:buNone/>
            </a:pPr>
            <a:r>
              <a:rPr lang="en-US" sz="1100" b="1" kern="0" spc="100" dirty="0">
                <a:solidFill>
                  <a:srgbClr val="121B3A"/>
                </a:solidFill>
                <a:latin typeface="Calibri" pitchFamily="34" charset="0"/>
                <a:ea typeface="Calibri" pitchFamily="34" charset="-122"/>
                <a:cs typeface="Calibri" pitchFamily="34" charset="-120"/>
              </a:rPr>
              <a:t>FORMATO</a:t>
            </a:r>
            <a:endParaRPr lang="en-US" sz="1100" dirty="0"/>
          </a:p>
        </p:txBody>
      </p:sp>
      <p:sp>
        <p:nvSpPr>
          <p:cNvPr id="29" name="Text 27"/>
          <p:cNvSpPr/>
          <p:nvPr/>
        </p:nvSpPr>
        <p:spPr>
          <a:xfrm>
            <a:off x="4846320" y="3621024"/>
            <a:ext cx="3657600" cy="256032"/>
          </a:xfrm>
          <a:prstGeom prst="rect">
            <a:avLst/>
          </a:prstGeom>
          <a:noFill/>
          <a:ln/>
        </p:spPr>
        <p:txBody>
          <a:bodyPr wrap="square" lIns="0" tIns="0" rIns="0" bIns="0" rtlCol="0" anchor="ctr"/>
          <a:lstStyle/>
          <a:p>
            <a:pPr marL="0" indent="0">
              <a:buNone/>
            </a:pPr>
            <a:r>
              <a:rPr lang="en-US" sz="1100" dirty="0">
                <a:solidFill>
                  <a:srgbClr val="5A5F73"/>
                </a:solidFill>
                <a:latin typeface="Calibri" pitchFamily="34" charset="0"/>
                <a:ea typeface="Calibri" pitchFamily="34" charset="-122"/>
                <a:cs typeface="Calibri" pitchFamily="34" charset="-120"/>
              </a:rPr>
              <a:t>Tono, extensión, estructura</a:t>
            </a:r>
            <a:endParaRPr lang="en-US" sz="1100" dirty="0"/>
          </a:p>
        </p:txBody>
      </p:sp>
      <p:sp>
        <p:nvSpPr>
          <p:cNvPr id="30" name="Shape 28"/>
          <p:cNvSpPr/>
          <p:nvPr/>
        </p:nvSpPr>
        <p:spPr>
          <a:xfrm>
            <a:off x="4846320" y="3931920"/>
            <a:ext cx="3657600" cy="658368"/>
          </a:xfrm>
          <a:prstGeom prst="roundRect">
            <a:avLst>
              <a:gd name="adj" fmla="val 6944"/>
            </a:avLst>
          </a:prstGeom>
          <a:solidFill>
            <a:srgbClr val="121B3A"/>
          </a:solidFill>
          <a:ln w="12700">
            <a:solidFill>
              <a:srgbClr val="121B3A"/>
            </a:solidFill>
            <a:prstDash val="solid"/>
          </a:ln>
        </p:spPr>
        <p:txBody>
          <a:bodyPr/>
          <a:lstStyle/>
          <a:p>
            <a:endParaRPr lang="es-PE"/>
          </a:p>
        </p:txBody>
      </p:sp>
      <p:sp>
        <p:nvSpPr>
          <p:cNvPr id="31" name="Text 29"/>
          <p:cNvSpPr/>
          <p:nvPr/>
        </p:nvSpPr>
        <p:spPr>
          <a:xfrm>
            <a:off x="4956048" y="3986784"/>
            <a:ext cx="3456432" cy="54864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"Tono cálido y directo. Máximo 80 palabras. Sin saludos formales."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3 · PRÁCTICA CON DATOS REALES</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Elige tu fila del CSV y practica</a:t>
            </a:r>
            <a:endParaRPr lang="en-US" sz="3200" dirty="0"/>
          </a:p>
        </p:txBody>
      </p:sp>
      <p:sp>
        <p:nvSpPr>
          <p:cNvPr id="4" name="Shape 2"/>
          <p:cNvSpPr/>
          <p:nvPr/>
        </p:nvSpPr>
        <p:spPr>
          <a:xfrm>
            <a:off x="411480" y="1417320"/>
            <a:ext cx="8321040" cy="502920"/>
          </a:xfrm>
          <a:prstGeom prst="roundRect">
            <a:avLst>
              <a:gd name="adj" fmla="val 12727"/>
            </a:avLst>
          </a:prstGeom>
          <a:solidFill>
            <a:srgbClr val="121B3A"/>
          </a:solidFill>
          <a:ln w="12700">
            <a:solidFill>
              <a:srgbClr val="121B3A"/>
            </a:solidFill>
            <a:prstDash val="solid"/>
          </a:ln>
        </p:spPr>
        <p:txBody>
          <a:bodyPr/>
          <a:lstStyle/>
          <a:p>
            <a:endParaRPr lang="es-PE"/>
          </a:p>
        </p:txBody>
      </p:sp>
      <p:sp>
        <p:nvSpPr>
          <p:cNvPr id="5" name="Text 3"/>
          <p:cNvSpPr/>
          <p:nvPr/>
        </p:nvSpPr>
        <p:spPr>
          <a:xfrm>
            <a:off x="594360" y="1481328"/>
            <a:ext cx="7955280" cy="365760"/>
          </a:xfrm>
          <a:prstGeom prst="rect">
            <a:avLst/>
          </a:prstGeom>
          <a:noFill/>
          <a:ln/>
        </p:spPr>
        <p:txBody>
          <a:bodyPr wrap="square" lIns="0" tIns="0" rIns="0" bIns="0" rtlCol="0" anchor="ctr"/>
          <a:lstStyle/>
          <a:p>
            <a:pPr marL="0" indent="0">
              <a:buNone/>
            </a:pPr>
            <a:r>
              <a:rPr lang="en-US" sz="1300" b="1" dirty="0">
                <a:solidFill>
                  <a:srgbClr val="F5C842"/>
                </a:solidFill>
                <a:latin typeface="Calibri" pitchFamily="34" charset="0"/>
                <a:ea typeface="Calibri" pitchFamily="34" charset="-122"/>
                <a:cs typeface="Calibri" pitchFamily="34" charset="-120"/>
              </a:rPr>
              <a:t>Del CSV, elige una fila. Copia nombre, campaña, estado, días y nota en los corchetes del prompt. Pégalo en ChatGPT y en Claude.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8229600" cy="2304288"/>
        </p:xfrm>
        <a:graphic>
          <a:graphicData uri="http://schemas.openxmlformats.org/drawingml/2006/table">
            <a:tbl>
              <a:tblPr/>
              <a:tblGrid>
                <a:gridCol w="3200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983480">
                  <a:extLst>
                    <a:ext uri="{9D8B030D-6E8A-4147-A177-3AD203B41FA5}">
                      <a16:colId xmlns:a16="http://schemas.microsoft.com/office/drawing/2014/main" val="20004"/>
                    </a:ext>
                  </a:extLst>
                </a:gridCol>
              </a:tblGrid>
              <a:tr h="32918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21B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Nombre</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21B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21B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Días</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21B3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Nota clave</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121B3A"/>
                    </a:solidFill>
                  </a:tcPr>
                </a:tc>
                <a:extLst>
                  <a:ext uri="{0D108BD9-81ED-4DB2-BD59-A6C34878D82A}">
                    <a16:rowId xmlns:a16="http://schemas.microsoft.com/office/drawing/2014/main" val="10000"/>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Andrea M.</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No contesta</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Interesada en webinar, sin respuesta</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extLst>
                  <a:ext uri="{0D108BD9-81ED-4DB2-BD59-A6C34878D82A}">
                    <a16:rowId xmlns:a16="http://schemas.microsoft.com/office/drawing/2014/main" val="10001"/>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Carla V.</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Seguimiento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Pidió precios, dijo 'lo pienso'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Lorena T.</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Interesado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Quiere empezar julio, duda modalidad</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extLst>
                  <a:ext uri="{0D108BD9-81ED-4DB2-BD59-A6C34878D82A}">
                    <a16:rowId xmlns:a16="http://schemas.microsoft.com/office/drawing/2014/main" val="10003"/>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Sofía R.</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No contesta</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Lead frío, sin respuesta desde registro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Patricia G.</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Seguimiento</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Objeción de precio, pidió cuotas</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7F7F9"/>
                    </a:solidFill>
                  </a:tcPr>
                </a:tc>
                <a:extLst>
                  <a:ext uri="{0D108BD9-81ED-4DB2-BD59-A6C34878D82A}">
                    <a16:rowId xmlns:a16="http://schemas.microsoft.com/office/drawing/2014/main" val="10005"/>
                  </a:ext>
                </a:extLst>
              </a:tr>
              <a:tr h="329184">
                <a:tc>
                  <a:txBody>
                    <a:bodyPr/>
                    <a:lstStyle/>
                    <a:p>
                      <a:pPr marL="0" indent="0" algn="ctr">
                        <a:buNone/>
                      </a:pPr>
                      <a:r>
                        <a:rPr lang="en-US" sz="1000" dirty="0">
                          <a:solidFill>
                            <a:srgbClr val="121B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Beatriz H.</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No contesta</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21B3A"/>
                          </a:solidFill>
                          <a:latin typeface="Calibri" pitchFamily="34" charset="0"/>
                          <a:ea typeface="Calibri" pitchFamily="34" charset="-122"/>
                          <a:cs typeface="Calibri" pitchFamily="34" charset="-120"/>
                        </a:rPr>
                        <a:t>Último intento antes de archivar</a:t>
                      </a:r>
                      <a:endParaRPr lang="en-US" sz="1000" dirty="0">
                        <a:latin typeface="Calibri" charset="0"/>
                        <a:ea typeface="Calibri" charset="0"/>
                        <a:cs typeface="Calibri" charset="0"/>
                      </a:endParaRPr>
                    </a:p>
                  </a:txBody>
                  <a:tcPr>
                    <a:lnL w="6350" cap="flat" cmpd="sng" algn="ctr">
                      <a:solidFill>
                        <a:srgbClr val="E5E5EA"/>
                      </a:solidFill>
                      <a:prstDash val="solid"/>
                      <a:round/>
                      <a:headEnd type="none" w="med" len="med"/>
                      <a:tailEnd type="none" w="med" len="med"/>
                    </a:lnL>
                    <a:lnR w="6350" cap="flat" cmpd="sng" algn="ctr">
                      <a:solidFill>
                        <a:srgbClr val="E5E5EA"/>
                      </a:solidFill>
                      <a:prstDash val="solid"/>
                      <a:round/>
                      <a:headEnd type="none" w="med" len="med"/>
                      <a:tailEnd type="none" w="med" len="med"/>
                    </a:lnR>
                    <a:lnT w="6350" cap="flat" cmpd="sng" algn="ctr">
                      <a:solidFill>
                        <a:srgbClr val="E5E5EA"/>
                      </a:solidFill>
                      <a:prstDash val="solid"/>
                      <a:round/>
                      <a:headEnd type="none" w="med" len="med"/>
                      <a:tailEnd type="none" w="med" len="med"/>
                    </a:lnT>
                    <a:lnB w="6350"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4"/>
          <p:cNvSpPr/>
          <p:nvPr/>
        </p:nvSpPr>
        <p:spPr>
          <a:xfrm>
            <a:off x="411480" y="4736592"/>
            <a:ext cx="8321040" cy="182880"/>
          </a:xfrm>
          <a:prstGeom prst="rect">
            <a:avLst/>
          </a:prstGeom>
          <a:noFill/>
          <a:ln/>
        </p:spPr>
        <p:txBody>
          <a:bodyPr wrap="square" lIns="0" tIns="0" rIns="0" bIns="0" rtlCol="0" anchor="ctr"/>
          <a:lstStyle/>
          <a:p>
            <a:pPr marL="0" indent="0">
              <a:buNone/>
            </a:pPr>
            <a:r>
              <a:rPr lang="en-US" sz="900" i="1" dirty="0">
                <a:solidFill>
                  <a:srgbClr val="AAAAAA"/>
                </a:solidFill>
                <a:latin typeface="Calibri" pitchFamily="34" charset="0"/>
                <a:ea typeface="Calibri" pitchFamily="34" charset="-122"/>
                <a:cs typeface="Calibri" pitchFamily="34" charset="-120"/>
              </a:rPr>
              <a:t>Ver CSV completo en el chat de Meet (12 filas disponibles)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3 · COMPARACIÓN EN VIVO</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ChatGPT vs. Claude — ¿Qué observar?</a:t>
            </a:r>
            <a:endParaRPr lang="en-US" sz="3200" dirty="0"/>
          </a:p>
        </p:txBody>
      </p:sp>
      <p:sp>
        <p:nvSpPr>
          <p:cNvPr id="4" name="Shape 2"/>
          <p:cNvSpPr/>
          <p:nvPr/>
        </p:nvSpPr>
        <p:spPr>
          <a:xfrm>
            <a:off x="411480" y="1417320"/>
            <a:ext cx="4069080" cy="3017520"/>
          </a:xfrm>
          <a:prstGeom prst="roundRect">
            <a:avLst>
              <a:gd name="adj" fmla="val 2424"/>
            </a:avLst>
          </a:prstGeom>
          <a:solidFill>
            <a:srgbClr val="F7F7F9"/>
          </a:solidFill>
          <a:ln w="12700">
            <a:solidFill>
              <a:srgbClr val="E5E5EA"/>
            </a:solidFill>
            <a:prstDash val="solid"/>
          </a:ln>
        </p:spPr>
        <p:txBody>
          <a:bodyPr/>
          <a:lstStyle/>
          <a:p>
            <a:endParaRPr lang="es-PE"/>
          </a:p>
        </p:txBody>
      </p:sp>
      <p:sp>
        <p:nvSpPr>
          <p:cNvPr id="5" name="Shape 3"/>
          <p:cNvSpPr/>
          <p:nvPr/>
        </p:nvSpPr>
        <p:spPr>
          <a:xfrm>
            <a:off x="411480" y="1417320"/>
            <a:ext cx="4069080" cy="438912"/>
          </a:xfrm>
          <a:prstGeom prst="roundRect">
            <a:avLst>
              <a:gd name="adj" fmla="val 16667"/>
            </a:avLst>
          </a:prstGeom>
          <a:solidFill>
            <a:srgbClr val="10A37F"/>
          </a:solidFill>
          <a:ln w="12700">
            <a:solidFill>
              <a:srgbClr val="10A37F"/>
            </a:solidFill>
            <a:prstDash val="solid"/>
          </a:ln>
        </p:spPr>
        <p:txBody>
          <a:bodyPr/>
          <a:lstStyle/>
          <a:p>
            <a:endParaRPr lang="es-PE"/>
          </a:p>
        </p:txBody>
      </p:sp>
      <p:sp>
        <p:nvSpPr>
          <p:cNvPr id="6" name="Shape 4"/>
          <p:cNvSpPr/>
          <p:nvPr/>
        </p:nvSpPr>
        <p:spPr>
          <a:xfrm>
            <a:off x="411480" y="1645920"/>
            <a:ext cx="4069080" cy="210312"/>
          </a:xfrm>
          <a:prstGeom prst="roundRect">
            <a:avLst/>
          </a:prstGeom>
          <a:solidFill>
            <a:srgbClr val="10A37F"/>
          </a:solidFill>
          <a:ln w="12700">
            <a:solidFill>
              <a:srgbClr val="10A37F"/>
            </a:solidFill>
            <a:prstDash val="solid"/>
          </a:ln>
        </p:spPr>
        <p:txBody>
          <a:bodyPr/>
          <a:lstStyle/>
          <a:p>
            <a:endParaRPr lang="es-PE"/>
          </a:p>
        </p:txBody>
      </p:sp>
      <p:sp>
        <p:nvSpPr>
          <p:cNvPr id="7" name="Text 5"/>
          <p:cNvSpPr/>
          <p:nvPr/>
        </p:nvSpPr>
        <p:spPr>
          <a:xfrm>
            <a:off x="594360" y="1481328"/>
            <a:ext cx="36576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ChatGPT</a:t>
            </a:r>
            <a:endParaRPr lang="en-US" sz="1700" dirty="0"/>
          </a:p>
        </p:txBody>
      </p:sp>
      <p:sp>
        <p:nvSpPr>
          <p:cNvPr id="8" name="Text 6"/>
          <p:cNvSpPr/>
          <p:nvPr/>
        </p:nvSpPr>
        <p:spPr>
          <a:xfrm>
            <a:off x="594360" y="1956816"/>
            <a:ext cx="3657600" cy="2286000"/>
          </a:xfrm>
          <a:prstGeom prst="rect">
            <a:avLst/>
          </a:prstGeom>
          <a:noFill/>
          <a:ln/>
        </p:spPr>
        <p:txBody>
          <a:bodyPr wrap="square" lIns="76200" tIns="76200" rIns="76200" bIns="76200" rtlCol="0" anchor="ctr"/>
          <a:lstStyle/>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¿Respeta el límite de palabras?</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¿El tono suena a WhatsApp o a correo formal?</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¿Menciona datos del lead o es genérico?</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¿La primera frase engancha?</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¿El cierre invita a responder?</a:t>
            </a:r>
            <a:endParaRPr lang="en-US" sz="1200" dirty="0"/>
          </a:p>
        </p:txBody>
      </p:sp>
      <p:sp>
        <p:nvSpPr>
          <p:cNvPr id="9" name="Shape 7"/>
          <p:cNvSpPr/>
          <p:nvPr/>
        </p:nvSpPr>
        <p:spPr>
          <a:xfrm>
            <a:off x="4663440" y="1417320"/>
            <a:ext cx="4069080" cy="3017520"/>
          </a:xfrm>
          <a:prstGeom prst="roundRect">
            <a:avLst>
              <a:gd name="adj" fmla="val 2424"/>
            </a:avLst>
          </a:prstGeom>
          <a:solidFill>
            <a:srgbClr val="F7F7F9"/>
          </a:solidFill>
          <a:ln w="12700">
            <a:solidFill>
              <a:srgbClr val="E5E5EA"/>
            </a:solidFill>
            <a:prstDash val="solid"/>
          </a:ln>
        </p:spPr>
        <p:txBody>
          <a:bodyPr/>
          <a:lstStyle/>
          <a:p>
            <a:endParaRPr lang="es-PE"/>
          </a:p>
        </p:txBody>
      </p:sp>
      <p:sp>
        <p:nvSpPr>
          <p:cNvPr id="10" name="Shape 8"/>
          <p:cNvSpPr/>
          <p:nvPr/>
        </p:nvSpPr>
        <p:spPr>
          <a:xfrm>
            <a:off x="4663440" y="1417320"/>
            <a:ext cx="4069080" cy="438912"/>
          </a:xfrm>
          <a:prstGeom prst="roundRect">
            <a:avLst>
              <a:gd name="adj" fmla="val 16667"/>
            </a:avLst>
          </a:prstGeom>
          <a:solidFill>
            <a:srgbClr val="CC6B45"/>
          </a:solidFill>
          <a:ln w="12700">
            <a:solidFill>
              <a:srgbClr val="CC6B45"/>
            </a:solidFill>
            <a:prstDash val="solid"/>
          </a:ln>
        </p:spPr>
        <p:txBody>
          <a:bodyPr/>
          <a:lstStyle/>
          <a:p>
            <a:endParaRPr lang="es-PE"/>
          </a:p>
        </p:txBody>
      </p:sp>
      <p:sp>
        <p:nvSpPr>
          <p:cNvPr id="11" name="Shape 9"/>
          <p:cNvSpPr/>
          <p:nvPr/>
        </p:nvSpPr>
        <p:spPr>
          <a:xfrm>
            <a:off x="4663440" y="1645920"/>
            <a:ext cx="4069080" cy="210312"/>
          </a:xfrm>
          <a:prstGeom prst="roundRect">
            <a:avLst/>
          </a:prstGeom>
          <a:solidFill>
            <a:srgbClr val="CC6B45"/>
          </a:solidFill>
          <a:ln w="12700">
            <a:solidFill>
              <a:srgbClr val="CC6B45"/>
            </a:solidFill>
            <a:prstDash val="solid"/>
          </a:ln>
        </p:spPr>
        <p:txBody>
          <a:bodyPr/>
          <a:lstStyle/>
          <a:p>
            <a:endParaRPr lang="es-PE"/>
          </a:p>
        </p:txBody>
      </p:sp>
      <p:sp>
        <p:nvSpPr>
          <p:cNvPr id="12" name="Text 10"/>
          <p:cNvSpPr/>
          <p:nvPr/>
        </p:nvSpPr>
        <p:spPr>
          <a:xfrm>
            <a:off x="4846320" y="1481328"/>
            <a:ext cx="3657600" cy="3200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Claude</a:t>
            </a:r>
            <a:endParaRPr lang="en-US" sz="1700" dirty="0"/>
          </a:p>
        </p:txBody>
      </p:sp>
      <p:sp>
        <p:nvSpPr>
          <p:cNvPr id="13" name="Text 11"/>
          <p:cNvSpPr/>
          <p:nvPr/>
        </p:nvSpPr>
        <p:spPr>
          <a:xfrm>
            <a:off x="4846320" y="1956816"/>
            <a:ext cx="3657600" cy="2286000"/>
          </a:xfrm>
          <a:prstGeom prst="rect">
            <a:avLst/>
          </a:prstGeom>
          <a:noFill/>
          <a:ln/>
        </p:spPr>
        <p:txBody>
          <a:bodyPr wrap="square" lIns="76200" tIns="76200" rIns="76200" bIns="76200" rtlCol="0" anchor="ctr"/>
          <a:lstStyle/>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¿La redacción es más formal o más conversacional?</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¿Usa los datos del lead de forma visible?</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¿El cierre es activo o pasivo?</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¿Qué cambiarías antes de enviarlo?</a:t>
            </a:r>
            <a:endParaRPr lang="en-US" sz="1200" dirty="0"/>
          </a:p>
          <a:p>
            <a:pPr marL="342900" indent="-342900">
              <a:buSzPct val="100000"/>
              <a:buChar char="•"/>
            </a:pPr>
            <a:r>
              <a:rPr lang="en-US" sz="1200" dirty="0">
                <a:solidFill>
                  <a:srgbClr val="121B3A"/>
                </a:solidFill>
                <a:latin typeface="Calibri" pitchFamily="34" charset="0"/>
                <a:ea typeface="Calibri" pitchFamily="34" charset="-122"/>
                <a:cs typeface="Calibri" pitchFamily="34" charset="-120"/>
              </a:rPr>
              <a:t>¿Se nota que tiene el contexto EEA?</a:t>
            </a:r>
            <a:endParaRPr lang="en-US" sz="1200" dirty="0"/>
          </a:p>
        </p:txBody>
      </p:sp>
      <p:sp>
        <p:nvSpPr>
          <p:cNvPr id="14" name="Shape 12"/>
          <p:cNvSpPr/>
          <p:nvPr/>
        </p:nvSpPr>
        <p:spPr>
          <a:xfrm>
            <a:off x="411480" y="4544568"/>
            <a:ext cx="8321040" cy="411480"/>
          </a:xfrm>
          <a:prstGeom prst="roundRect">
            <a:avLst>
              <a:gd name="adj" fmla="val 13333"/>
            </a:avLst>
          </a:prstGeom>
          <a:solidFill>
            <a:srgbClr val="121B3A"/>
          </a:solidFill>
          <a:ln w="12700">
            <a:solidFill>
              <a:srgbClr val="121B3A"/>
            </a:solidFill>
            <a:prstDash val="solid"/>
          </a:ln>
        </p:spPr>
        <p:txBody>
          <a:bodyPr/>
          <a:lstStyle/>
          <a:p>
            <a:endParaRPr lang="es-PE"/>
          </a:p>
        </p:txBody>
      </p:sp>
      <p:sp>
        <p:nvSpPr>
          <p:cNvPr id="15" name="Text 13"/>
          <p:cNvSpPr/>
          <p:nvPr/>
        </p:nvSpPr>
        <p:spPr>
          <a:xfrm>
            <a:off x="594360" y="4617720"/>
            <a:ext cx="7955280" cy="274320"/>
          </a:xfrm>
          <a:prstGeom prst="rect">
            <a:avLst/>
          </a:prstGeom>
          <a:noFill/>
          <a:ln/>
        </p:spPr>
        <p:txBody>
          <a:bodyPr wrap="square" lIns="0" tIns="0" rIns="0" bIns="0" rtlCol="0" anchor="ctr"/>
          <a:lstStyle/>
          <a:p>
            <a:pPr marL="0" indent="0" algn="ctr">
              <a:buNone/>
            </a:pPr>
            <a:r>
              <a:rPr lang="en-US" sz="1100" b="1" dirty="0">
                <a:solidFill>
                  <a:srgbClr val="F5C842"/>
                </a:solidFill>
                <a:latin typeface="Calibri" pitchFamily="34" charset="0"/>
                <a:ea typeface="Calibri" pitchFamily="34" charset="-122"/>
                <a:cs typeface="Calibri" pitchFamily="34" charset="-120"/>
              </a:rPr>
              <a:t>ChatGPT: primeros borradores rápidos y variaciones  ·  Claude: afinar tono, acortar, mejorar precisión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BLOQUE 4 · NIVEL INTERMEDIO EN ACCIÓN</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Editar el output — la IA propone, tú decides</a:t>
            </a:r>
            <a:endParaRPr lang="en-US" sz="3200" dirty="0"/>
          </a:p>
        </p:txBody>
      </p:sp>
      <p:sp>
        <p:nvSpPr>
          <p:cNvPr id="4" name="Shape 2"/>
          <p:cNvSpPr/>
          <p:nvPr/>
        </p:nvSpPr>
        <p:spPr>
          <a:xfrm>
            <a:off x="411480" y="1444752"/>
            <a:ext cx="8321040" cy="749808"/>
          </a:xfrm>
          <a:prstGeom prst="roundRect">
            <a:avLst>
              <a:gd name="adj" fmla="val 8537"/>
            </a:avLst>
          </a:prstGeom>
          <a:solidFill>
            <a:srgbClr val="F7F7F9"/>
          </a:solidFill>
          <a:ln w="12700">
            <a:solidFill>
              <a:srgbClr val="E5E5EA"/>
            </a:solidFill>
            <a:prstDash val="solid"/>
          </a:ln>
        </p:spPr>
        <p:txBody>
          <a:bodyPr/>
          <a:lstStyle/>
          <a:p>
            <a:endParaRPr lang="es-PE"/>
          </a:p>
        </p:txBody>
      </p:sp>
      <p:sp>
        <p:nvSpPr>
          <p:cNvPr id="5" name="Shape 3"/>
          <p:cNvSpPr/>
          <p:nvPr/>
        </p:nvSpPr>
        <p:spPr>
          <a:xfrm>
            <a:off x="530352" y="1645920"/>
            <a:ext cx="329184" cy="329184"/>
          </a:xfrm>
          <a:prstGeom prst="ellipse">
            <a:avLst/>
          </a:prstGeom>
          <a:solidFill>
            <a:srgbClr val="121B3A"/>
          </a:solidFill>
          <a:ln w="12700">
            <a:solidFill>
              <a:srgbClr val="121B3A"/>
            </a:solidFill>
            <a:prstDash val="solid"/>
          </a:ln>
        </p:spPr>
        <p:txBody>
          <a:bodyPr/>
          <a:lstStyle/>
          <a:p>
            <a:endParaRPr lang="es-PE"/>
          </a:p>
        </p:txBody>
      </p:sp>
      <p:sp>
        <p:nvSpPr>
          <p:cNvPr id="6" name="Text 4"/>
          <p:cNvSpPr/>
          <p:nvPr/>
        </p:nvSpPr>
        <p:spPr>
          <a:xfrm>
            <a:off x="530352" y="1645920"/>
            <a:ext cx="329184" cy="329184"/>
          </a:xfrm>
          <a:prstGeom prst="rect">
            <a:avLst/>
          </a:prstGeom>
          <a:noFill/>
          <a:ln/>
        </p:spPr>
        <p:txBody>
          <a:bodyPr wrap="square" lIns="0" tIns="0" rIns="0" bIns="0" rtlCol="0" anchor="ctr"/>
          <a:lstStyle/>
          <a:p>
            <a:pPr marL="0" indent="0" algn="ctr">
              <a:buNone/>
            </a:pPr>
            <a:r>
              <a:rPr lang="en-US" sz="1400" b="1" dirty="0">
                <a:solidFill>
                  <a:srgbClr val="F5C842"/>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69264" y="1536192"/>
            <a:ext cx="7132320" cy="256032"/>
          </a:xfrm>
          <a:prstGeom prst="rect">
            <a:avLst/>
          </a:prstGeom>
          <a:noFill/>
          <a:ln/>
        </p:spPr>
        <p:txBody>
          <a:bodyPr wrap="square" lIns="0" tIns="0" rIns="0" bIns="0" rtlCol="0" anchor="ctr"/>
          <a:lstStyle/>
          <a:p>
            <a:pPr marL="0" indent="0">
              <a:buNone/>
            </a:pPr>
            <a:r>
              <a:rPr lang="en-US" sz="1300" b="1" dirty="0">
                <a:solidFill>
                  <a:srgbClr val="121B3A"/>
                </a:solidFill>
                <a:latin typeface="Calibri" pitchFamily="34" charset="0"/>
                <a:ea typeface="Calibri" pitchFamily="34" charset="-122"/>
                <a:cs typeface="Calibri" pitchFamily="34" charset="-120"/>
              </a:rPr>
              <a:t>Tono demasiado formal</a:t>
            </a:r>
            <a:endParaRPr lang="en-US" sz="1300" dirty="0"/>
          </a:p>
        </p:txBody>
      </p:sp>
      <p:sp>
        <p:nvSpPr>
          <p:cNvPr id="8" name="Text 6"/>
          <p:cNvSpPr/>
          <p:nvPr/>
        </p:nvSpPr>
        <p:spPr>
          <a:xfrm>
            <a:off x="969264" y="1792224"/>
            <a:ext cx="7498080" cy="329184"/>
          </a:xfrm>
          <a:prstGeom prst="rect">
            <a:avLst/>
          </a:prstGeom>
          <a:noFill/>
          <a:ln/>
        </p:spPr>
        <p:txBody>
          <a:bodyPr wrap="square" lIns="0" tIns="0" rIns="0" bIns="0" rtlCol="0" anchor="ctr"/>
          <a:lstStyle/>
          <a:p>
            <a:pPr marL="0" indent="0">
              <a:buNone/>
            </a:pPr>
            <a:r>
              <a:rPr lang="en-US" sz="1100" i="1" dirty="0">
                <a:solidFill>
                  <a:srgbClr val="5A5F73"/>
                </a:solidFill>
                <a:latin typeface="Calibri" pitchFamily="34" charset="0"/>
                <a:ea typeface="Calibri" pitchFamily="34" charset="-122"/>
                <a:cs typeface="Calibri" pitchFamily="34" charset="-120"/>
              </a:rPr>
              <a:t>Reemplaza 'estimada' por el nombre. Elimina el saludo de correo. Pide: 'Hazlo más conversacional, como WhatsApp real.'</a:t>
            </a:r>
            <a:endParaRPr lang="en-US" sz="1100" dirty="0"/>
          </a:p>
        </p:txBody>
      </p:sp>
      <p:sp>
        <p:nvSpPr>
          <p:cNvPr id="9" name="Shape 7"/>
          <p:cNvSpPr/>
          <p:nvPr/>
        </p:nvSpPr>
        <p:spPr>
          <a:xfrm>
            <a:off x="411480" y="2286000"/>
            <a:ext cx="8321040" cy="749808"/>
          </a:xfrm>
          <a:prstGeom prst="roundRect">
            <a:avLst>
              <a:gd name="adj" fmla="val 8537"/>
            </a:avLst>
          </a:prstGeom>
          <a:solidFill>
            <a:srgbClr val="F7F7F9"/>
          </a:solidFill>
          <a:ln w="12700">
            <a:solidFill>
              <a:srgbClr val="E5E5EA"/>
            </a:solidFill>
            <a:prstDash val="solid"/>
          </a:ln>
        </p:spPr>
        <p:txBody>
          <a:bodyPr/>
          <a:lstStyle/>
          <a:p>
            <a:endParaRPr lang="es-PE"/>
          </a:p>
        </p:txBody>
      </p:sp>
      <p:sp>
        <p:nvSpPr>
          <p:cNvPr id="10" name="Shape 8"/>
          <p:cNvSpPr/>
          <p:nvPr/>
        </p:nvSpPr>
        <p:spPr>
          <a:xfrm>
            <a:off x="530352" y="2487168"/>
            <a:ext cx="329184" cy="329184"/>
          </a:xfrm>
          <a:prstGeom prst="ellipse">
            <a:avLst/>
          </a:prstGeom>
          <a:solidFill>
            <a:srgbClr val="121B3A"/>
          </a:solidFill>
          <a:ln w="12700">
            <a:solidFill>
              <a:srgbClr val="121B3A"/>
            </a:solidFill>
            <a:prstDash val="solid"/>
          </a:ln>
        </p:spPr>
        <p:txBody>
          <a:bodyPr/>
          <a:lstStyle/>
          <a:p>
            <a:endParaRPr lang="es-PE"/>
          </a:p>
        </p:txBody>
      </p:sp>
      <p:sp>
        <p:nvSpPr>
          <p:cNvPr id="11" name="Text 9"/>
          <p:cNvSpPr/>
          <p:nvPr/>
        </p:nvSpPr>
        <p:spPr>
          <a:xfrm>
            <a:off x="530352" y="2487168"/>
            <a:ext cx="329184" cy="329184"/>
          </a:xfrm>
          <a:prstGeom prst="rect">
            <a:avLst/>
          </a:prstGeom>
          <a:noFill/>
          <a:ln/>
        </p:spPr>
        <p:txBody>
          <a:bodyPr wrap="square" lIns="0" tIns="0" rIns="0" bIns="0" rtlCol="0" anchor="ctr"/>
          <a:lstStyle/>
          <a:p>
            <a:pPr marL="0" indent="0" algn="ctr">
              <a:buNone/>
            </a:pPr>
            <a:r>
              <a:rPr lang="en-US" sz="1400" b="1" dirty="0">
                <a:solidFill>
                  <a:srgbClr val="F5C842"/>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969264" y="2377440"/>
            <a:ext cx="7132320" cy="256032"/>
          </a:xfrm>
          <a:prstGeom prst="rect">
            <a:avLst/>
          </a:prstGeom>
          <a:noFill/>
          <a:ln/>
        </p:spPr>
        <p:txBody>
          <a:bodyPr wrap="square" lIns="0" tIns="0" rIns="0" bIns="0" rtlCol="0" anchor="ctr"/>
          <a:lstStyle/>
          <a:p>
            <a:pPr marL="0" indent="0">
              <a:buNone/>
            </a:pPr>
            <a:r>
              <a:rPr lang="en-US" sz="1300" b="1" dirty="0">
                <a:solidFill>
                  <a:srgbClr val="121B3A"/>
                </a:solidFill>
                <a:latin typeface="Calibri" pitchFamily="34" charset="0"/>
                <a:ea typeface="Calibri" pitchFamily="34" charset="-122"/>
                <a:cs typeface="Calibri" pitchFamily="34" charset="-120"/>
              </a:rPr>
              <a:t>Datos genéricos o inventados</a:t>
            </a:r>
            <a:endParaRPr lang="en-US" sz="1300" dirty="0"/>
          </a:p>
        </p:txBody>
      </p:sp>
      <p:sp>
        <p:nvSpPr>
          <p:cNvPr id="13" name="Text 11"/>
          <p:cNvSpPr/>
          <p:nvPr/>
        </p:nvSpPr>
        <p:spPr>
          <a:xfrm>
            <a:off x="969264" y="2633472"/>
            <a:ext cx="7498080" cy="329184"/>
          </a:xfrm>
          <a:prstGeom prst="rect">
            <a:avLst/>
          </a:prstGeom>
          <a:noFill/>
          <a:ln/>
        </p:spPr>
        <p:txBody>
          <a:bodyPr wrap="square" lIns="0" tIns="0" rIns="0" bIns="0" rtlCol="0" anchor="ctr"/>
          <a:lstStyle/>
          <a:p>
            <a:pPr marL="0" indent="0">
              <a:buNone/>
            </a:pPr>
            <a:r>
              <a:rPr lang="en-US" sz="1100" i="1" dirty="0">
                <a:solidFill>
                  <a:srgbClr val="5A5F73"/>
                </a:solidFill>
                <a:latin typeface="Calibri" pitchFamily="34" charset="0"/>
                <a:ea typeface="Calibri" pitchFamily="34" charset="-122"/>
                <a:cs typeface="Calibri" pitchFamily="34" charset="-120"/>
              </a:rPr>
              <a:t>Revisa que todos los datos del mensaje existan en la ficha del lead. Si no están, son inventados — edita antes de enviar.</a:t>
            </a:r>
            <a:endParaRPr lang="en-US" sz="1100" dirty="0"/>
          </a:p>
        </p:txBody>
      </p:sp>
      <p:sp>
        <p:nvSpPr>
          <p:cNvPr id="14" name="Shape 12"/>
          <p:cNvSpPr/>
          <p:nvPr/>
        </p:nvSpPr>
        <p:spPr>
          <a:xfrm>
            <a:off x="411480" y="3127248"/>
            <a:ext cx="8321040" cy="749808"/>
          </a:xfrm>
          <a:prstGeom prst="roundRect">
            <a:avLst>
              <a:gd name="adj" fmla="val 8537"/>
            </a:avLst>
          </a:prstGeom>
          <a:solidFill>
            <a:srgbClr val="F7F7F9"/>
          </a:solidFill>
          <a:ln w="12700">
            <a:solidFill>
              <a:srgbClr val="E5E5EA"/>
            </a:solidFill>
            <a:prstDash val="solid"/>
          </a:ln>
        </p:spPr>
        <p:txBody>
          <a:bodyPr/>
          <a:lstStyle/>
          <a:p>
            <a:endParaRPr lang="es-PE"/>
          </a:p>
        </p:txBody>
      </p:sp>
      <p:sp>
        <p:nvSpPr>
          <p:cNvPr id="15" name="Shape 13"/>
          <p:cNvSpPr/>
          <p:nvPr/>
        </p:nvSpPr>
        <p:spPr>
          <a:xfrm>
            <a:off x="530352" y="3328416"/>
            <a:ext cx="329184" cy="329184"/>
          </a:xfrm>
          <a:prstGeom prst="ellipse">
            <a:avLst/>
          </a:prstGeom>
          <a:solidFill>
            <a:srgbClr val="121B3A"/>
          </a:solidFill>
          <a:ln w="12700">
            <a:solidFill>
              <a:srgbClr val="121B3A"/>
            </a:solidFill>
            <a:prstDash val="solid"/>
          </a:ln>
        </p:spPr>
        <p:txBody>
          <a:bodyPr/>
          <a:lstStyle/>
          <a:p>
            <a:endParaRPr lang="es-PE"/>
          </a:p>
        </p:txBody>
      </p:sp>
      <p:sp>
        <p:nvSpPr>
          <p:cNvPr id="16" name="Text 14"/>
          <p:cNvSpPr/>
          <p:nvPr/>
        </p:nvSpPr>
        <p:spPr>
          <a:xfrm>
            <a:off x="530352" y="3328416"/>
            <a:ext cx="329184" cy="329184"/>
          </a:xfrm>
          <a:prstGeom prst="rect">
            <a:avLst/>
          </a:prstGeom>
          <a:noFill/>
          <a:ln/>
        </p:spPr>
        <p:txBody>
          <a:bodyPr wrap="square" lIns="0" tIns="0" rIns="0" bIns="0" rtlCol="0" anchor="ctr"/>
          <a:lstStyle/>
          <a:p>
            <a:pPr marL="0" indent="0" algn="ctr">
              <a:buNone/>
            </a:pPr>
            <a:r>
              <a:rPr lang="en-US" sz="1400" b="1" dirty="0">
                <a:solidFill>
                  <a:srgbClr val="F5C842"/>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969264" y="3218688"/>
            <a:ext cx="7132320" cy="256032"/>
          </a:xfrm>
          <a:prstGeom prst="rect">
            <a:avLst/>
          </a:prstGeom>
          <a:noFill/>
          <a:ln/>
        </p:spPr>
        <p:txBody>
          <a:bodyPr wrap="square" lIns="0" tIns="0" rIns="0" bIns="0" rtlCol="0" anchor="ctr"/>
          <a:lstStyle/>
          <a:p>
            <a:pPr marL="0" indent="0">
              <a:buNone/>
            </a:pPr>
            <a:r>
              <a:rPr lang="en-US" sz="1300" b="1" dirty="0">
                <a:solidFill>
                  <a:srgbClr val="121B3A"/>
                </a:solidFill>
                <a:latin typeface="Calibri" pitchFamily="34" charset="0"/>
                <a:ea typeface="Calibri" pitchFamily="34" charset="-122"/>
                <a:cs typeface="Calibri" pitchFamily="34" charset="-120"/>
              </a:rPr>
              <a:t>Cierre débil</a:t>
            </a:r>
            <a:endParaRPr lang="en-US" sz="1300" dirty="0"/>
          </a:p>
        </p:txBody>
      </p:sp>
      <p:sp>
        <p:nvSpPr>
          <p:cNvPr id="18" name="Text 16"/>
          <p:cNvSpPr/>
          <p:nvPr/>
        </p:nvSpPr>
        <p:spPr>
          <a:xfrm>
            <a:off x="969264" y="3474720"/>
            <a:ext cx="7498080" cy="329184"/>
          </a:xfrm>
          <a:prstGeom prst="rect">
            <a:avLst/>
          </a:prstGeom>
          <a:noFill/>
          <a:ln/>
        </p:spPr>
        <p:txBody>
          <a:bodyPr wrap="square" lIns="0" tIns="0" rIns="0" bIns="0" rtlCol="0" anchor="ctr"/>
          <a:lstStyle/>
          <a:p>
            <a:pPr marL="0" indent="0">
              <a:buNone/>
            </a:pPr>
            <a:r>
              <a:rPr lang="en-US" sz="1100" i="1" dirty="0">
                <a:solidFill>
                  <a:srgbClr val="5A5F73"/>
                </a:solidFill>
                <a:latin typeface="Calibri" pitchFamily="34" charset="0"/>
                <a:ea typeface="Calibri" pitchFamily="34" charset="-122"/>
                <a:cs typeface="Calibri" pitchFamily="34" charset="-120"/>
              </a:rPr>
              <a:t>'Quedo a tu disposición' no genera respuesta. Pide: 'Cambia el cierre por una pregunta directa en una sola frase.'</a:t>
            </a:r>
            <a:endParaRPr lang="en-US" sz="1100" dirty="0"/>
          </a:p>
        </p:txBody>
      </p:sp>
      <p:sp>
        <p:nvSpPr>
          <p:cNvPr id="19" name="Shape 17"/>
          <p:cNvSpPr/>
          <p:nvPr/>
        </p:nvSpPr>
        <p:spPr>
          <a:xfrm>
            <a:off x="411480" y="4096512"/>
            <a:ext cx="8321040" cy="868680"/>
          </a:xfrm>
          <a:prstGeom prst="roundRect">
            <a:avLst>
              <a:gd name="adj" fmla="val 7368"/>
            </a:avLst>
          </a:prstGeom>
          <a:solidFill>
            <a:srgbClr val="EEF2FF"/>
          </a:solidFill>
          <a:ln w="12700">
            <a:solidFill>
              <a:srgbClr val="1E2D6B"/>
            </a:solidFill>
            <a:prstDash val="solid"/>
          </a:ln>
        </p:spPr>
        <p:txBody>
          <a:bodyPr/>
          <a:lstStyle/>
          <a:p>
            <a:endParaRPr lang="es-PE"/>
          </a:p>
        </p:txBody>
      </p:sp>
      <p:sp>
        <p:nvSpPr>
          <p:cNvPr id="20" name="Text 18"/>
          <p:cNvSpPr/>
          <p:nvPr/>
        </p:nvSpPr>
        <p:spPr>
          <a:xfrm>
            <a:off x="594360" y="4160520"/>
            <a:ext cx="4572000" cy="201168"/>
          </a:xfrm>
          <a:prstGeom prst="rect">
            <a:avLst/>
          </a:prstGeom>
          <a:noFill/>
          <a:ln/>
        </p:spPr>
        <p:txBody>
          <a:bodyPr wrap="square" lIns="0" tIns="0" rIns="0" bIns="0" rtlCol="0" anchor="ctr"/>
          <a:lstStyle/>
          <a:p>
            <a:pPr marL="0" indent="0">
              <a:buNone/>
            </a:pPr>
            <a:r>
              <a:rPr lang="en-US" sz="800" b="1" kern="0" spc="200" dirty="0">
                <a:solidFill>
                  <a:srgbClr val="1E2D6B"/>
                </a:solidFill>
                <a:latin typeface="Calibri" pitchFamily="34" charset="0"/>
                <a:ea typeface="Calibri" pitchFamily="34" charset="-122"/>
                <a:cs typeface="Calibri" pitchFamily="34" charset="-120"/>
              </a:rPr>
              <a:t>PARA WILLIAM — SEGUNDA ITERACIÓN</a:t>
            </a:r>
            <a:endParaRPr lang="en-US" sz="800" dirty="0"/>
          </a:p>
        </p:txBody>
      </p:sp>
      <p:sp>
        <p:nvSpPr>
          <p:cNvPr id="21" name="Text 19"/>
          <p:cNvSpPr/>
          <p:nvPr/>
        </p:nvSpPr>
        <p:spPr>
          <a:xfrm>
            <a:off x="594360" y="4352544"/>
            <a:ext cx="7955280" cy="502920"/>
          </a:xfrm>
          <a:prstGeom prst="rect">
            <a:avLst/>
          </a:prstGeom>
          <a:noFill/>
          <a:ln/>
        </p:spPr>
        <p:txBody>
          <a:bodyPr wrap="square" lIns="0" tIns="0" rIns="0" bIns="0" rtlCol="0" anchor="ctr"/>
          <a:lstStyle/>
          <a:p>
            <a:pPr marL="0" indent="0">
              <a:buNone/>
            </a:pPr>
            <a:r>
              <a:rPr lang="en-US" sz="1100" dirty="0">
                <a:solidFill>
                  <a:srgbClr val="121B3A"/>
                </a:solidFill>
                <a:latin typeface="Calibri" pitchFamily="34" charset="0"/>
                <a:ea typeface="Calibri" pitchFamily="34" charset="-122"/>
                <a:cs typeface="Calibri" pitchFamily="34" charset="-120"/>
              </a:rPr>
              <a:t>Toma el output → identifica qué faltó en el prompt original → reescríbelo con esa corrección. Tarea: 'El mensaje anterior está bien pero [PROBLEMA]. Reescríbelo ajustando [CAMBIO].'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DEMO AVANZADA · SOLO INSTRUCTORA</a:t>
            </a:r>
            <a:endParaRPr lang="en-US" sz="900" dirty="0"/>
          </a:p>
        </p:txBody>
      </p:sp>
      <p:sp>
        <p:nvSpPr>
          <p:cNvPr id="3" name="Text 1"/>
          <p:cNvSpPr/>
          <p:nvPr/>
        </p:nvSpPr>
        <p:spPr>
          <a:xfrm>
            <a:off x="411480" y="566928"/>
            <a:ext cx="8321040" cy="7772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Leer el CSV completo con IA</a:t>
            </a:r>
            <a:endParaRPr lang="en-US" sz="3400" dirty="0"/>
          </a:p>
        </p:txBody>
      </p:sp>
      <p:sp>
        <p:nvSpPr>
          <p:cNvPr id="4" name="Text 2"/>
          <p:cNvSpPr/>
          <p:nvPr/>
        </p:nvSpPr>
        <p:spPr>
          <a:xfrm>
            <a:off x="411480" y="1389888"/>
            <a:ext cx="8321040" cy="320040"/>
          </a:xfrm>
          <a:prstGeom prst="rect">
            <a:avLst/>
          </a:prstGeom>
          <a:noFill/>
          <a:ln/>
        </p:spPr>
        <p:txBody>
          <a:bodyPr wrap="square" lIns="0" tIns="0" rIns="0" bIns="0" rtlCol="0" anchor="ctr"/>
          <a:lstStyle/>
          <a:p>
            <a:pPr marL="0" indent="0">
              <a:buNone/>
            </a:pPr>
            <a:r>
              <a:rPr lang="en-US" sz="1200" i="1" dirty="0">
                <a:solidFill>
                  <a:srgbClr val="C9CEE8"/>
                </a:solidFill>
                <a:latin typeface="Calibri" pitchFamily="34" charset="0"/>
                <a:ea typeface="Calibri" pitchFamily="34" charset="-122"/>
                <a:cs typeface="Calibri" pitchFamily="34" charset="-120"/>
              </a:rPr>
              <a:t>Esto lo ejecutas tú en pantalla — los participantes observan. Es una vista previa de hacia dónde van.</a:t>
            </a:r>
            <a:endParaRPr lang="en-US" sz="1200" dirty="0"/>
          </a:p>
        </p:txBody>
      </p:sp>
      <p:sp>
        <p:nvSpPr>
          <p:cNvPr id="5" name="Shape 3"/>
          <p:cNvSpPr/>
          <p:nvPr/>
        </p:nvSpPr>
        <p:spPr>
          <a:xfrm>
            <a:off x="411480" y="1828800"/>
            <a:ext cx="4069080" cy="2606040"/>
          </a:xfrm>
          <a:prstGeom prst="roundRect">
            <a:avLst>
              <a:gd name="adj" fmla="val 3509"/>
            </a:avLst>
          </a:prstGeom>
          <a:solidFill>
            <a:srgbClr val="1E2D6B"/>
          </a:solidFill>
          <a:ln w="25400">
            <a:solidFill>
              <a:srgbClr val="10A37F"/>
            </a:solidFill>
            <a:prstDash val="solid"/>
          </a:ln>
        </p:spPr>
        <p:txBody>
          <a:bodyPr/>
          <a:lstStyle/>
          <a:p>
            <a:endParaRPr lang="es-PE"/>
          </a:p>
        </p:txBody>
      </p:sp>
      <p:sp>
        <p:nvSpPr>
          <p:cNvPr id="6" name="Text 4"/>
          <p:cNvSpPr/>
          <p:nvPr/>
        </p:nvSpPr>
        <p:spPr>
          <a:xfrm>
            <a:off x="594360" y="1938528"/>
            <a:ext cx="3657600" cy="320040"/>
          </a:xfrm>
          <a:prstGeom prst="rect">
            <a:avLst/>
          </a:prstGeom>
          <a:noFill/>
          <a:ln/>
        </p:spPr>
        <p:txBody>
          <a:bodyPr wrap="square" lIns="0" tIns="0" rIns="0" bIns="0" rtlCol="0" anchor="ctr"/>
          <a:lstStyle/>
          <a:p>
            <a:pPr marL="0" indent="0">
              <a:buNone/>
            </a:pPr>
            <a:r>
              <a:rPr lang="en-US" sz="1400" b="1" dirty="0">
                <a:solidFill>
                  <a:srgbClr val="10A37F"/>
                </a:solidFill>
                <a:latin typeface="Calibri" pitchFamily="34" charset="0"/>
                <a:ea typeface="Calibri" pitchFamily="34" charset="-122"/>
                <a:cs typeface="Calibri" pitchFamily="34" charset="-120"/>
              </a:rPr>
              <a:t>ChatGPT — Adjunto</a:t>
            </a:r>
            <a:endParaRPr lang="en-US" sz="1400" dirty="0"/>
          </a:p>
        </p:txBody>
      </p:sp>
      <p:sp>
        <p:nvSpPr>
          <p:cNvPr id="7" name="Text 5"/>
          <p:cNvSpPr/>
          <p:nvPr/>
        </p:nvSpPr>
        <p:spPr>
          <a:xfrm>
            <a:off x="594360" y="2322576"/>
            <a:ext cx="3657600" cy="2011680"/>
          </a:xfrm>
          <a:prstGeom prst="rect">
            <a:avLst/>
          </a:prstGeom>
          <a:noFill/>
          <a:ln/>
        </p:spPr>
        <p:txBody>
          <a:bodyPr wrap="square" lIns="50800" tIns="50800" rIns="50800" bIns="508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a:t>
            </a:r>
            <a:r>
              <a:rPr lang="en-US" sz="1100" dirty="0">
                <a:solidFill>
                  <a:srgbClr val="FFFFFF"/>
                </a:solidFill>
                <a:latin typeface="Calibri" pitchFamily="34" charset="0"/>
                <a:ea typeface="Calibri" pitchFamily="34" charset="-122"/>
                <a:cs typeface="Calibri" pitchFamily="34" charset="-120"/>
              </a:rPr>
              <a:t>Compartir CSV por Meet
</a:t>
            </a:r>
            <a:r>
              <a:rPr lang="en-US" sz="1100" b="1" dirty="0">
                <a:solidFill>
                  <a:srgbClr val="FFFFFF"/>
                </a:solidFill>
                <a:latin typeface="Calibri" pitchFamily="34" charset="0"/>
                <a:ea typeface="Calibri" pitchFamily="34" charset="-122"/>
                <a:cs typeface="Calibri" pitchFamily="34" charset="-120"/>
              </a:rPr>
              <a:t>2. </a:t>
            </a:r>
            <a:r>
              <a:rPr lang="en-US" sz="1100" dirty="0">
                <a:solidFill>
                  <a:srgbClr val="FFFFFF"/>
                </a:solidFill>
                <a:latin typeface="Calibri" pitchFamily="34" charset="0"/>
                <a:ea typeface="Calibri" pitchFamily="34" charset="-122"/>
                <a:cs typeface="Calibri" pitchFamily="34" charset="-120"/>
              </a:rPr>
              <a:t>Subir el archivo en ChatGPT (ícono clip)
</a:t>
            </a:r>
            <a:r>
              <a:rPr lang="en-US" sz="1100" b="1" dirty="0">
                <a:solidFill>
                  <a:srgbClr val="FFFFFF"/>
                </a:solidFill>
                <a:latin typeface="Calibri" pitchFamily="34" charset="0"/>
                <a:ea typeface="Calibri" pitchFamily="34" charset="-122"/>
                <a:cs typeface="Calibri" pitchFamily="34" charset="-120"/>
              </a:rPr>
              <a:t>3. </a:t>
            </a:r>
            <a:r>
              <a:rPr lang="en-US" sz="1100" dirty="0">
                <a:solidFill>
                  <a:srgbClr val="FFFFFF"/>
                </a:solidFill>
                <a:latin typeface="Calibri" pitchFamily="34" charset="0"/>
                <a:ea typeface="Calibri" pitchFamily="34" charset="-122"/>
                <a:cs typeface="Calibri" pitchFamily="34" charset="-120"/>
              </a:rPr>
              <a:t>Prompt: 'Para cada fila genera un mensaje de WhatsApp personalizado usando Nombre, Estado y Notas. Tono cálido, máx. 80 palabras cada uno.'
</a:t>
            </a:r>
            <a:r>
              <a:rPr lang="en-US" sz="1100" b="1" dirty="0">
                <a:solidFill>
                  <a:srgbClr val="FFFFFF"/>
                </a:solidFill>
                <a:latin typeface="Calibri" pitchFamily="34" charset="0"/>
                <a:ea typeface="Calibri" pitchFamily="34" charset="-122"/>
                <a:cs typeface="Calibri" pitchFamily="34" charset="-120"/>
              </a:rPr>
              <a:t>ChatGPT procesa las 12 filas en un solo output.</a:t>
            </a:r>
            <a:endParaRPr lang="en-US" sz="1100" dirty="0"/>
          </a:p>
        </p:txBody>
      </p:sp>
      <p:sp>
        <p:nvSpPr>
          <p:cNvPr id="8" name="Shape 6"/>
          <p:cNvSpPr/>
          <p:nvPr/>
        </p:nvSpPr>
        <p:spPr>
          <a:xfrm>
            <a:off x="4663440" y="1828800"/>
            <a:ext cx="4069080" cy="2606040"/>
          </a:xfrm>
          <a:prstGeom prst="roundRect">
            <a:avLst>
              <a:gd name="adj" fmla="val 3509"/>
            </a:avLst>
          </a:prstGeom>
          <a:solidFill>
            <a:srgbClr val="1E2D6B"/>
          </a:solidFill>
          <a:ln w="25400">
            <a:solidFill>
              <a:srgbClr val="CC6B45"/>
            </a:solidFill>
            <a:prstDash val="solid"/>
          </a:ln>
        </p:spPr>
        <p:txBody>
          <a:bodyPr/>
          <a:lstStyle/>
          <a:p>
            <a:endParaRPr lang="es-PE"/>
          </a:p>
        </p:txBody>
      </p:sp>
      <p:sp>
        <p:nvSpPr>
          <p:cNvPr id="9" name="Text 7"/>
          <p:cNvSpPr/>
          <p:nvPr/>
        </p:nvSpPr>
        <p:spPr>
          <a:xfrm>
            <a:off x="4846320" y="1938528"/>
            <a:ext cx="3657600" cy="320040"/>
          </a:xfrm>
          <a:prstGeom prst="rect">
            <a:avLst/>
          </a:prstGeom>
          <a:noFill/>
          <a:ln/>
        </p:spPr>
        <p:txBody>
          <a:bodyPr wrap="square" lIns="0" tIns="0" rIns="0" bIns="0" rtlCol="0" anchor="ctr"/>
          <a:lstStyle/>
          <a:p>
            <a:pPr marL="0" indent="0">
              <a:buNone/>
            </a:pPr>
            <a:r>
              <a:rPr lang="en-US" sz="1400" b="1" dirty="0">
                <a:solidFill>
                  <a:srgbClr val="CC6B45"/>
                </a:solidFill>
                <a:latin typeface="Calibri" pitchFamily="34" charset="0"/>
                <a:ea typeface="Calibri" pitchFamily="34" charset="-122"/>
                <a:cs typeface="Calibri" pitchFamily="34" charset="-120"/>
              </a:rPr>
              <a:t>Claude — MCP Drive o Project</a:t>
            </a:r>
            <a:endParaRPr lang="en-US" sz="1400" dirty="0"/>
          </a:p>
        </p:txBody>
      </p:sp>
      <p:sp>
        <p:nvSpPr>
          <p:cNvPr id="10" name="Text 8"/>
          <p:cNvSpPr/>
          <p:nvPr/>
        </p:nvSpPr>
        <p:spPr>
          <a:xfrm>
            <a:off x="4846320" y="2322576"/>
            <a:ext cx="3657600" cy="2011680"/>
          </a:xfrm>
          <a:prstGeom prst="rect">
            <a:avLst/>
          </a:prstGeom>
          <a:noFill/>
          <a:ln/>
        </p:spPr>
        <p:txBody>
          <a:bodyPr wrap="square" lIns="50800" tIns="50800" rIns="50800" bIns="50800" rtlCol="0" anchor="ctr"/>
          <a:lstStyle/>
          <a:p>
            <a:pPr marL="0" indent="0">
              <a:buNone/>
            </a:pPr>
            <a:r>
              <a:rPr lang="en-US" sz="1100" b="1" dirty="0">
                <a:solidFill>
                  <a:srgbClr val="F5C842"/>
                </a:solidFill>
                <a:latin typeface="Calibri" pitchFamily="34" charset="0"/>
                <a:ea typeface="Calibri" pitchFamily="34" charset="-122"/>
                <a:cs typeface="Calibri" pitchFamily="34" charset="-120"/>
              </a:rPr>
              <a:t>MCP Drive: </a:t>
            </a:r>
            <a:r>
              <a:rPr lang="en-US" sz="1100" dirty="0">
                <a:solidFill>
                  <a:srgbClr val="FFFFFF"/>
                </a:solidFill>
                <a:latin typeface="Calibri" pitchFamily="34" charset="0"/>
                <a:ea typeface="Calibri" pitchFamily="34" charset="-122"/>
                <a:cs typeface="Calibri" pitchFamily="34" charset="-120"/>
              </a:rPr>
              <a:t>'Lee el archivo EEA_Leads_Practica.csv de mi Google Drive y genera un mensaje de WhatsApp para cada fila usando nombre, estado y notas.'
</a:t>
            </a:r>
            <a:r>
              <a:rPr lang="en-US" sz="1100" b="1" dirty="0">
                <a:solidFill>
                  <a:srgbClr val="F5C842"/>
                </a:solidFill>
                <a:latin typeface="Calibri" pitchFamily="34" charset="0"/>
                <a:ea typeface="Calibri" pitchFamily="34" charset="-122"/>
                <a:cs typeface="Calibri" pitchFamily="34" charset="-120"/>
              </a:rPr>
              <a:t>Project: </a:t>
            </a:r>
            <a:r>
              <a:rPr lang="en-US" sz="1100" dirty="0">
                <a:solidFill>
                  <a:srgbClr val="FFFFFF"/>
                </a:solidFill>
                <a:latin typeface="Calibri" pitchFamily="34" charset="0"/>
                <a:ea typeface="Calibri" pitchFamily="34" charset="-122"/>
                <a:cs typeface="Calibri" pitchFamily="34" charset="-120"/>
              </a:rPr>
              <a:t>Subir el CSV al Project EEA Comercial → mismo prompt. Claude accede sin que lo subas manualmente cada vez.</a:t>
            </a:r>
            <a:endParaRPr lang="en-US" sz="1100" dirty="0"/>
          </a:p>
        </p:txBody>
      </p:sp>
      <p:sp>
        <p:nvSpPr>
          <p:cNvPr id="11" name="Shape 9"/>
          <p:cNvSpPr/>
          <p:nvPr/>
        </p:nvSpPr>
        <p:spPr>
          <a:xfrm>
            <a:off x="411480" y="4526280"/>
            <a:ext cx="8321040" cy="411480"/>
          </a:xfrm>
          <a:prstGeom prst="roundRect">
            <a:avLst>
              <a:gd name="adj" fmla="val 13333"/>
            </a:avLst>
          </a:prstGeom>
          <a:solidFill>
            <a:srgbClr val="FFF8E6">
              <a:alpha val="90000"/>
            </a:srgbClr>
          </a:solidFill>
          <a:ln w="12700">
            <a:solidFill>
              <a:srgbClr val="F5C842"/>
            </a:solidFill>
            <a:prstDash val="solid"/>
          </a:ln>
        </p:spPr>
        <p:txBody>
          <a:bodyPr/>
          <a:lstStyle/>
          <a:p>
            <a:endParaRPr lang="es-PE"/>
          </a:p>
        </p:txBody>
      </p:sp>
      <p:sp>
        <p:nvSpPr>
          <p:cNvPr id="12" name="Text 10"/>
          <p:cNvSpPr/>
          <p:nvPr/>
        </p:nvSpPr>
        <p:spPr>
          <a:xfrm>
            <a:off x="594360" y="4599432"/>
            <a:ext cx="7955280" cy="274320"/>
          </a:xfrm>
          <a:prstGeom prst="rect">
            <a:avLst/>
          </a:prstGeom>
          <a:noFill/>
          <a:ln/>
        </p:spPr>
        <p:txBody>
          <a:bodyPr wrap="square" lIns="0" tIns="0" rIns="0" bIns="0" rtlCol="0" anchor="ctr"/>
          <a:lstStyle/>
          <a:p>
            <a:pPr marL="0" indent="0">
              <a:buNone/>
            </a:pPr>
            <a:r>
              <a:rPr lang="en-US" sz="1000" i="1" dirty="0">
                <a:solidFill>
                  <a:srgbClr val="121B3A"/>
                </a:solidFill>
                <a:latin typeface="Calibri" pitchFamily="34" charset="0"/>
                <a:ea typeface="Calibri" pitchFamily="34" charset="-122"/>
                <a:cs typeface="Calibri" pitchFamily="34" charset="-120"/>
              </a:rPr>
              <a:t>Diferencia clave: ChatGPT requiere subir el archivo cada sesión. Claude con MCP Drive accede siempre a la versión actualizada.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RECURSO · TRASPASO DE CONTEXTO</a:t>
            </a:r>
            <a:endParaRPr lang="en-US" sz="900" dirty="0"/>
          </a:p>
        </p:txBody>
      </p:sp>
      <p:sp>
        <p:nvSpPr>
          <p:cNvPr id="3" name="Text 1"/>
          <p:cNvSpPr/>
          <p:nvPr/>
        </p:nvSpPr>
        <p:spPr>
          <a:xfrm>
            <a:off x="411480" y="566928"/>
            <a:ext cx="8321040" cy="822960"/>
          </a:xfrm>
          <a:prstGeom prst="rect">
            <a:avLst/>
          </a:prstGeom>
          <a:noFill/>
          <a:ln/>
        </p:spPr>
        <p:txBody>
          <a:bodyPr wrap="square" lIns="0" tIns="0" rIns="0" bIns="0" rtlCol="0" anchor="ctr"/>
          <a:lstStyle/>
          <a:p>
            <a:pPr marL="0" indent="0">
              <a:buNone/>
            </a:pPr>
            <a:r>
              <a:rPr lang="en-US" sz="3200" b="1" dirty="0">
                <a:solidFill>
                  <a:srgbClr val="121B3A"/>
                </a:solidFill>
                <a:latin typeface="Cambria" pitchFamily="34" charset="0"/>
                <a:ea typeface="Cambria" pitchFamily="34" charset="-122"/>
                <a:cs typeface="Cambria" pitchFamily="34" charset="-120"/>
              </a:rPr>
              <a:t>Pasar el trabajo de una IA a otra</a:t>
            </a:r>
            <a:endParaRPr lang="en-US" sz="3200" dirty="0"/>
          </a:p>
        </p:txBody>
      </p:sp>
      <p:sp>
        <p:nvSpPr>
          <p:cNvPr id="4" name="Text 2"/>
          <p:cNvSpPr/>
          <p:nvPr/>
        </p:nvSpPr>
        <p:spPr>
          <a:xfrm>
            <a:off x="411480" y="1417320"/>
            <a:ext cx="8321040" cy="292608"/>
          </a:xfrm>
          <a:prstGeom prst="rect">
            <a:avLst/>
          </a:prstGeom>
          <a:noFill/>
          <a:ln/>
        </p:spPr>
        <p:txBody>
          <a:bodyPr wrap="square" lIns="0" tIns="0" rIns="0" bIns="0" rtlCol="0" anchor="ctr"/>
          <a:lstStyle/>
          <a:p>
            <a:pPr marL="0" indent="0">
              <a:buNone/>
            </a:pPr>
            <a:r>
              <a:rPr lang="en-US" sz="1200" i="1" dirty="0">
                <a:solidFill>
                  <a:srgbClr val="5A5F73"/>
                </a:solidFill>
                <a:latin typeface="Calibri" pitchFamily="34" charset="0"/>
                <a:ea typeface="Calibri" pitchFamily="34" charset="-122"/>
                <a:cs typeface="Calibri" pitchFamily="34" charset="-120"/>
              </a:rPr>
              <a:t>Ninguna IA recuerda lo que generó otra. El traspaso es manual — usa este bloque como plantilla.</a:t>
            </a:r>
            <a:endParaRPr lang="en-US" sz="1200" dirty="0"/>
          </a:p>
        </p:txBody>
      </p:sp>
      <p:sp>
        <p:nvSpPr>
          <p:cNvPr id="5" name="Shape 3"/>
          <p:cNvSpPr/>
          <p:nvPr/>
        </p:nvSpPr>
        <p:spPr>
          <a:xfrm>
            <a:off x="411480" y="1792224"/>
            <a:ext cx="3840480" cy="1645920"/>
          </a:xfrm>
          <a:prstGeom prst="roundRect">
            <a:avLst>
              <a:gd name="adj" fmla="val 4444"/>
            </a:avLst>
          </a:prstGeom>
          <a:solidFill>
            <a:srgbClr val="F7F7F9"/>
          </a:solidFill>
          <a:ln w="19050">
            <a:solidFill>
              <a:srgbClr val="10A37F"/>
            </a:solidFill>
            <a:prstDash val="solid"/>
          </a:ln>
        </p:spPr>
        <p:txBody>
          <a:bodyPr/>
          <a:lstStyle/>
          <a:p>
            <a:endParaRPr lang="es-PE"/>
          </a:p>
        </p:txBody>
      </p:sp>
      <p:sp>
        <p:nvSpPr>
          <p:cNvPr id="6" name="Text 4"/>
          <p:cNvSpPr/>
          <p:nvPr/>
        </p:nvSpPr>
        <p:spPr>
          <a:xfrm>
            <a:off x="594360" y="1865376"/>
            <a:ext cx="3291840" cy="274320"/>
          </a:xfrm>
          <a:prstGeom prst="rect">
            <a:avLst/>
          </a:prstGeom>
          <a:noFill/>
          <a:ln/>
        </p:spPr>
        <p:txBody>
          <a:bodyPr wrap="square" lIns="0" tIns="0" rIns="0" bIns="0" rtlCol="0" anchor="ctr"/>
          <a:lstStyle/>
          <a:p>
            <a:pPr marL="0" indent="0">
              <a:buNone/>
            </a:pPr>
            <a:r>
              <a:rPr lang="en-US" sz="1200" b="1" dirty="0">
                <a:solidFill>
                  <a:srgbClr val="10A37F"/>
                </a:solidFill>
                <a:latin typeface="Calibri" pitchFamily="34" charset="0"/>
                <a:ea typeface="Calibri" pitchFamily="34" charset="-122"/>
                <a:cs typeface="Calibri" pitchFamily="34" charset="-120"/>
              </a:rPr>
              <a:t>ChatGPT → Claude</a:t>
            </a:r>
            <a:endParaRPr lang="en-US" sz="1200" dirty="0"/>
          </a:p>
        </p:txBody>
      </p:sp>
      <p:sp>
        <p:nvSpPr>
          <p:cNvPr id="7" name="Shape 5"/>
          <p:cNvSpPr/>
          <p:nvPr/>
        </p:nvSpPr>
        <p:spPr>
          <a:xfrm>
            <a:off x="594360" y="2157984"/>
            <a:ext cx="3474720" cy="1152144"/>
          </a:xfrm>
          <a:prstGeom prst="roundRect">
            <a:avLst>
              <a:gd name="adj" fmla="val 3968"/>
            </a:avLst>
          </a:prstGeom>
          <a:solidFill>
            <a:srgbClr val="121B3A"/>
          </a:solidFill>
          <a:ln w="12700">
            <a:solidFill>
              <a:srgbClr val="121B3A"/>
            </a:solidFill>
            <a:prstDash val="solid"/>
          </a:ln>
        </p:spPr>
        <p:txBody>
          <a:bodyPr/>
          <a:lstStyle/>
          <a:p>
            <a:endParaRPr lang="es-PE"/>
          </a:p>
        </p:txBody>
      </p:sp>
      <p:sp>
        <p:nvSpPr>
          <p:cNvPr id="8" name="Text 6"/>
          <p:cNvSpPr/>
          <p:nvPr/>
        </p:nvSpPr>
        <p:spPr>
          <a:xfrm>
            <a:off x="685800" y="2203704"/>
            <a:ext cx="3291840" cy="105156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Contexto de ChatGPT:</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PROMPT QUE USÉ: [PEGAR]</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RESULTADO: [PEGAR]</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Ahora necesito que [ACCIÓN].</a:t>
            </a:r>
            <a:endParaRPr lang="en-US" sz="950" dirty="0"/>
          </a:p>
        </p:txBody>
      </p:sp>
      <p:sp>
        <p:nvSpPr>
          <p:cNvPr id="9" name="Shape 7"/>
          <p:cNvSpPr/>
          <p:nvPr/>
        </p:nvSpPr>
        <p:spPr>
          <a:xfrm>
            <a:off x="4434840" y="1792224"/>
            <a:ext cx="3840480" cy="1645920"/>
          </a:xfrm>
          <a:prstGeom prst="roundRect">
            <a:avLst>
              <a:gd name="adj" fmla="val 4444"/>
            </a:avLst>
          </a:prstGeom>
          <a:solidFill>
            <a:srgbClr val="F7F7F9"/>
          </a:solidFill>
          <a:ln w="19050">
            <a:solidFill>
              <a:srgbClr val="CC6B45"/>
            </a:solidFill>
            <a:prstDash val="solid"/>
          </a:ln>
        </p:spPr>
        <p:txBody>
          <a:bodyPr/>
          <a:lstStyle/>
          <a:p>
            <a:endParaRPr lang="es-PE"/>
          </a:p>
        </p:txBody>
      </p:sp>
      <p:sp>
        <p:nvSpPr>
          <p:cNvPr id="10" name="Text 8"/>
          <p:cNvSpPr/>
          <p:nvPr/>
        </p:nvSpPr>
        <p:spPr>
          <a:xfrm>
            <a:off x="4617720" y="1865376"/>
            <a:ext cx="3291840" cy="274320"/>
          </a:xfrm>
          <a:prstGeom prst="rect">
            <a:avLst/>
          </a:prstGeom>
          <a:noFill/>
          <a:ln/>
        </p:spPr>
        <p:txBody>
          <a:bodyPr wrap="square" lIns="0" tIns="0" rIns="0" bIns="0" rtlCol="0" anchor="ctr"/>
          <a:lstStyle/>
          <a:p>
            <a:pPr marL="0" indent="0">
              <a:buNone/>
            </a:pPr>
            <a:r>
              <a:rPr lang="en-US" sz="1200" b="1" dirty="0">
                <a:solidFill>
                  <a:srgbClr val="CC6B45"/>
                </a:solidFill>
                <a:latin typeface="Calibri" pitchFamily="34" charset="0"/>
                <a:ea typeface="Calibri" pitchFamily="34" charset="-122"/>
                <a:cs typeface="Calibri" pitchFamily="34" charset="-120"/>
              </a:rPr>
              <a:t>Claude → ChatGPT</a:t>
            </a:r>
            <a:endParaRPr lang="en-US" sz="1200" dirty="0"/>
          </a:p>
        </p:txBody>
      </p:sp>
      <p:sp>
        <p:nvSpPr>
          <p:cNvPr id="11" name="Shape 9"/>
          <p:cNvSpPr/>
          <p:nvPr/>
        </p:nvSpPr>
        <p:spPr>
          <a:xfrm>
            <a:off x="4617720" y="2157984"/>
            <a:ext cx="3474720" cy="1152144"/>
          </a:xfrm>
          <a:prstGeom prst="roundRect">
            <a:avLst>
              <a:gd name="adj" fmla="val 3968"/>
            </a:avLst>
          </a:prstGeom>
          <a:solidFill>
            <a:srgbClr val="121B3A"/>
          </a:solidFill>
          <a:ln w="12700">
            <a:solidFill>
              <a:srgbClr val="121B3A"/>
            </a:solidFill>
            <a:prstDash val="solid"/>
          </a:ln>
        </p:spPr>
        <p:txBody>
          <a:bodyPr/>
          <a:lstStyle/>
          <a:p>
            <a:endParaRPr lang="es-PE"/>
          </a:p>
        </p:txBody>
      </p:sp>
      <p:sp>
        <p:nvSpPr>
          <p:cNvPr id="12" name="Text 10"/>
          <p:cNvSpPr/>
          <p:nvPr/>
        </p:nvSpPr>
        <p:spPr>
          <a:xfrm>
            <a:off x="4709160" y="2203704"/>
            <a:ext cx="3291840" cy="1051560"/>
          </a:xfrm>
          <a:prstGeom prst="rect">
            <a:avLst/>
          </a:prstGeom>
          <a:noFill/>
          <a:ln/>
        </p:spPr>
        <p:txBody>
          <a:bodyPr wrap="square" lIns="0" tIns="0" rIns="0" bIns="0" rtlCol="0" anchor="ctr"/>
          <a:lstStyle/>
          <a:p>
            <a:pPr marL="0" indent="0">
              <a:buNone/>
            </a:pPr>
            <a:r>
              <a:rPr lang="en-US" sz="950" dirty="0">
                <a:solidFill>
                  <a:srgbClr val="C9CEE8"/>
                </a:solidFill>
                <a:latin typeface="Courier New" pitchFamily="34" charset="0"/>
                <a:ea typeface="Courier New" pitchFamily="34" charset="-122"/>
                <a:cs typeface="Courier New" pitchFamily="34" charset="-120"/>
              </a:rPr>
              <a:t>Tengo este borrador de Claude:</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[PEGAR EL TEXTO]</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Necesito que [ACCIÓN — ej: 3 variaciones</a:t>
            </a:r>
            <a:endParaRPr lang="en-US" sz="950" dirty="0"/>
          </a:p>
          <a:p>
            <a:pPr marL="0" indent="0">
              <a:buNone/>
            </a:pPr>
            <a:r>
              <a:rPr lang="en-US" sz="950" dirty="0">
                <a:solidFill>
                  <a:srgbClr val="C9CEE8"/>
                </a:solidFill>
                <a:latin typeface="Courier New" pitchFamily="34" charset="0"/>
                <a:ea typeface="Courier New" pitchFamily="34" charset="-122"/>
                <a:cs typeface="Courier New" pitchFamily="34" charset="-120"/>
              </a:rPr>
              <a:t>de tono / más corto / pregunta de cierre].</a:t>
            </a:r>
            <a:endParaRPr lang="en-US" sz="950" dirty="0"/>
          </a:p>
        </p:txBody>
      </p:sp>
      <p:sp>
        <p:nvSpPr>
          <p:cNvPr id="13" name="Shape 11"/>
          <p:cNvSpPr/>
          <p:nvPr/>
        </p:nvSpPr>
        <p:spPr>
          <a:xfrm>
            <a:off x="411480" y="3520440"/>
            <a:ext cx="8321040" cy="1417320"/>
          </a:xfrm>
          <a:prstGeom prst="roundRect">
            <a:avLst>
              <a:gd name="adj" fmla="val 5161"/>
            </a:avLst>
          </a:prstGeom>
          <a:solidFill>
            <a:srgbClr val="121B3A"/>
          </a:solidFill>
          <a:ln w="12700">
            <a:solidFill>
              <a:srgbClr val="121B3A"/>
            </a:solidFill>
            <a:prstDash val="solid"/>
          </a:ln>
        </p:spPr>
        <p:txBody>
          <a:bodyPr/>
          <a:lstStyle/>
          <a:p>
            <a:endParaRPr lang="es-PE"/>
          </a:p>
        </p:txBody>
      </p:sp>
      <p:sp>
        <p:nvSpPr>
          <p:cNvPr id="14" name="Text 12"/>
          <p:cNvSpPr/>
          <p:nvPr/>
        </p:nvSpPr>
        <p:spPr>
          <a:xfrm>
            <a:off x="594360" y="3593592"/>
            <a:ext cx="4572000" cy="228600"/>
          </a:xfrm>
          <a:prstGeom prst="rect">
            <a:avLst/>
          </a:prstGeom>
          <a:noFill/>
          <a:ln/>
        </p:spPr>
        <p:txBody>
          <a:bodyPr wrap="square" lIns="0" tIns="0" rIns="0" bIns="0" rtlCol="0" anchor="ctr"/>
          <a:lstStyle/>
          <a:p>
            <a:pPr marL="0" indent="0">
              <a:buNone/>
            </a:pPr>
            <a:r>
              <a:rPr lang="en-US" sz="900" b="1" kern="0" spc="200" dirty="0">
                <a:solidFill>
                  <a:srgbClr val="F5C842"/>
                </a:solidFill>
                <a:latin typeface="Calibri" pitchFamily="34" charset="0"/>
                <a:ea typeface="Calibri" pitchFamily="34" charset="-122"/>
                <a:cs typeface="Calibri" pitchFamily="34" charset="-120"/>
              </a:rPr>
              <a:t>REGLA PRÁCTICA PARA EEA</a:t>
            </a:r>
            <a:endParaRPr lang="en-US" sz="900" dirty="0"/>
          </a:p>
        </p:txBody>
      </p:sp>
      <p:sp>
        <p:nvSpPr>
          <p:cNvPr id="15" name="Text 13"/>
          <p:cNvSpPr/>
          <p:nvPr/>
        </p:nvSpPr>
        <p:spPr>
          <a:xfrm>
            <a:off x="594360" y="3858768"/>
            <a:ext cx="7955280" cy="292608"/>
          </a:xfrm>
          <a:prstGeom prst="rect">
            <a:avLst/>
          </a:prstGeom>
          <a:noFill/>
          <a:ln/>
        </p:spPr>
        <p:txBody>
          <a:bodyPr wrap="square" lIns="0" tIns="0" rIns="0" bIns="0"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ChatGPT primero: </a:t>
            </a:r>
            <a:r>
              <a:rPr lang="en-US" sz="1200" dirty="0">
                <a:solidFill>
                  <a:srgbClr val="C9CEE8"/>
                </a:solidFill>
                <a:latin typeface="Calibri" pitchFamily="34" charset="0"/>
                <a:ea typeface="Calibri" pitchFamily="34" charset="-122"/>
                <a:cs typeface="Calibri" pitchFamily="34" charset="-120"/>
              </a:rPr>
              <a:t>cuando necesitas varias versiones rápidas o ideas de apertura para leads fríos.</a:t>
            </a:r>
            <a:endParaRPr lang="en-US" sz="1200" dirty="0"/>
          </a:p>
        </p:txBody>
      </p:sp>
      <p:sp>
        <p:nvSpPr>
          <p:cNvPr id="16" name="Text 14"/>
          <p:cNvSpPr/>
          <p:nvPr/>
        </p:nvSpPr>
        <p:spPr>
          <a:xfrm>
            <a:off x="594360" y="4206240"/>
            <a:ext cx="7955280" cy="292608"/>
          </a:xfrm>
          <a:prstGeom prst="rect">
            <a:avLst/>
          </a:prstGeom>
          <a:noFill/>
          <a:ln/>
        </p:spPr>
        <p:txBody>
          <a:bodyPr wrap="square" lIns="0" tIns="0" rIns="0" bIns="0"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Claude después: </a:t>
            </a:r>
            <a:r>
              <a:rPr lang="en-US" sz="1200" dirty="0">
                <a:solidFill>
                  <a:srgbClr val="C9CEE8"/>
                </a:solidFill>
                <a:latin typeface="Calibri" pitchFamily="34" charset="0"/>
                <a:ea typeface="Calibri" pitchFamily="34" charset="-122"/>
                <a:cs typeface="Calibri" pitchFamily="34" charset="-120"/>
              </a:rPr>
              <a:t>para afinar tono, acortar o mejorar la precisión del mensaje final.</a:t>
            </a:r>
            <a:endParaRPr lang="en-US" sz="1200" dirty="0"/>
          </a:p>
        </p:txBody>
      </p:sp>
      <p:sp>
        <p:nvSpPr>
          <p:cNvPr id="17" name="Text 15"/>
          <p:cNvSpPr/>
          <p:nvPr/>
        </p:nvSpPr>
        <p:spPr>
          <a:xfrm>
            <a:off x="594360" y="4553712"/>
            <a:ext cx="7955280" cy="292608"/>
          </a:xfrm>
          <a:prstGeom prst="rect">
            <a:avLst/>
          </a:prstGeom>
          <a:noFill/>
          <a:ln/>
        </p:spPr>
        <p:txBody>
          <a:bodyPr wrap="square" lIns="0" tIns="0" rIns="0" bIns="0"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Siempre: </a:t>
            </a:r>
            <a:r>
              <a:rPr lang="en-US" sz="1200" dirty="0">
                <a:solidFill>
                  <a:srgbClr val="C9CEE8"/>
                </a:solidFill>
                <a:latin typeface="Calibri" pitchFamily="34" charset="0"/>
                <a:ea typeface="Calibri" pitchFamily="34" charset="-122"/>
                <a:cs typeface="Calibri" pitchFamily="34" charset="-120"/>
              </a:rPr>
              <a:t>leer el output antes de enviarlo — verificar nombre y datos correctos.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B3A"/>
        </a:solidFill>
        <a:effectLst/>
      </p:bgPr>
    </p:bg>
    <p:spTree>
      <p:nvGrpSpPr>
        <p:cNvPr id="1" name=""/>
        <p:cNvGrpSpPr/>
        <p:nvPr/>
      </p:nvGrpSpPr>
      <p:grpSpPr>
        <a:xfrm>
          <a:off x="0" y="0"/>
          <a:ext cx="0" cy="0"/>
          <a:chOff x="0" y="0"/>
          <a:chExt cx="0" cy="0"/>
        </a:xfrm>
      </p:grpSpPr>
      <p:sp>
        <p:nvSpPr>
          <p:cNvPr id="2" name="Text 0"/>
          <p:cNvSpPr/>
          <p:nvPr/>
        </p:nvSpPr>
        <p:spPr>
          <a:xfrm>
            <a:off x="411480" y="292608"/>
            <a:ext cx="5486400" cy="201168"/>
          </a:xfrm>
          <a:prstGeom prst="rect">
            <a:avLst/>
          </a:prstGeom>
          <a:noFill/>
          <a:ln/>
        </p:spPr>
        <p:txBody>
          <a:bodyPr wrap="square" lIns="0" tIns="0" rIns="0" bIns="0" rtlCol="0" anchor="ctr"/>
          <a:lstStyle/>
          <a:p>
            <a:pPr marL="0" indent="0">
              <a:buNone/>
            </a:pPr>
            <a:r>
              <a:rPr lang="en-US" sz="900" b="1" kern="0" spc="300" dirty="0">
                <a:solidFill>
                  <a:srgbClr val="F5C842"/>
                </a:solidFill>
                <a:latin typeface="Calibri" pitchFamily="34" charset="0"/>
                <a:ea typeface="Calibri" pitchFamily="34" charset="-122"/>
                <a:cs typeface="Calibri" pitchFamily="34" charset="-120"/>
              </a:rPr>
              <a:t>CIERRE · COMPROMISO DE LA SEMANA</a:t>
            </a:r>
            <a:endParaRPr lang="en-US" sz="900" dirty="0"/>
          </a:p>
        </p:txBody>
      </p:sp>
      <p:sp>
        <p:nvSpPr>
          <p:cNvPr id="3" name="Text 1"/>
          <p:cNvSpPr/>
          <p:nvPr/>
        </p:nvSpPr>
        <p:spPr>
          <a:xfrm>
            <a:off x="411480" y="566928"/>
            <a:ext cx="8321040" cy="7772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¿Qué harás con IA esta semana?</a:t>
            </a:r>
            <a:endParaRPr lang="en-US" sz="3400" dirty="0"/>
          </a:p>
        </p:txBody>
      </p:sp>
      <p:sp>
        <p:nvSpPr>
          <p:cNvPr id="4" name="Shape 2"/>
          <p:cNvSpPr/>
          <p:nvPr/>
        </p:nvSpPr>
        <p:spPr>
          <a:xfrm>
            <a:off x="411480" y="1481328"/>
            <a:ext cx="8321040" cy="713232"/>
          </a:xfrm>
          <a:prstGeom prst="roundRect">
            <a:avLst>
              <a:gd name="adj" fmla="val 10256"/>
            </a:avLst>
          </a:prstGeom>
          <a:solidFill>
            <a:srgbClr val="1E2D6B"/>
          </a:solidFill>
          <a:ln w="6350">
            <a:solidFill>
              <a:srgbClr val="FFFFFF"/>
            </a:solidFill>
            <a:prstDash val="solid"/>
          </a:ln>
        </p:spPr>
        <p:txBody>
          <a:bodyPr/>
          <a:lstStyle/>
          <a:p>
            <a:endParaRPr lang="es-PE"/>
          </a:p>
        </p:txBody>
      </p:sp>
      <p:sp>
        <p:nvSpPr>
          <p:cNvPr id="5" name="Shape 3"/>
          <p:cNvSpPr/>
          <p:nvPr/>
        </p:nvSpPr>
        <p:spPr>
          <a:xfrm>
            <a:off x="566928" y="1655064"/>
            <a:ext cx="347472" cy="347472"/>
          </a:xfrm>
          <a:prstGeom prst="ellipse">
            <a:avLst/>
          </a:prstGeom>
          <a:solidFill>
            <a:srgbClr val="F5C842"/>
          </a:solidFill>
          <a:ln w="12700">
            <a:solidFill>
              <a:srgbClr val="F5C842"/>
            </a:solidFill>
            <a:prstDash val="solid"/>
          </a:ln>
        </p:spPr>
        <p:txBody>
          <a:bodyPr/>
          <a:lstStyle/>
          <a:p>
            <a:endParaRPr lang="es-PE"/>
          </a:p>
        </p:txBody>
      </p:sp>
      <p:sp>
        <p:nvSpPr>
          <p:cNvPr id="6" name="Text 4"/>
          <p:cNvSpPr/>
          <p:nvPr/>
        </p:nvSpPr>
        <p:spPr>
          <a:xfrm>
            <a:off x="566928" y="1655064"/>
            <a:ext cx="347472" cy="347472"/>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42416" y="1572768"/>
            <a:ext cx="713232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¿Cuántos leads?</a:t>
            </a:r>
            <a:endParaRPr lang="en-US" sz="1500" dirty="0"/>
          </a:p>
        </p:txBody>
      </p:sp>
      <p:sp>
        <p:nvSpPr>
          <p:cNvPr id="8" name="Text 6"/>
          <p:cNvSpPr/>
          <p:nvPr/>
        </p:nvSpPr>
        <p:spPr>
          <a:xfrm>
            <a:off x="1042416" y="1865376"/>
            <a:ext cx="7132320" cy="256032"/>
          </a:xfrm>
          <a:prstGeom prst="rect">
            <a:avLst/>
          </a:prstGeom>
          <a:noFill/>
          <a:ln/>
        </p:spPr>
        <p:txBody>
          <a:bodyPr wrap="square" lIns="0" tIns="0" rIns="0" bIns="0" rtlCol="0" anchor="ctr"/>
          <a:lstStyle/>
          <a:p>
            <a:pPr marL="0" indent="0">
              <a:buNone/>
            </a:pPr>
            <a:r>
              <a:rPr lang="en-US" sz="1200" dirty="0">
                <a:solidFill>
                  <a:srgbClr val="F5C842"/>
                </a:solidFill>
                <a:latin typeface="Calibri" pitchFamily="34" charset="0"/>
                <a:ea typeface="Calibri" pitchFamily="34" charset="-122"/>
                <a:cs typeface="Calibri" pitchFamily="34" charset="-120"/>
              </a:rPr>
              <a:t>Declara un número concreto. No 'voy a intentarlo'.</a:t>
            </a:r>
            <a:endParaRPr lang="en-US" sz="1200" dirty="0"/>
          </a:p>
        </p:txBody>
      </p:sp>
      <p:sp>
        <p:nvSpPr>
          <p:cNvPr id="9" name="Shape 7"/>
          <p:cNvSpPr/>
          <p:nvPr/>
        </p:nvSpPr>
        <p:spPr>
          <a:xfrm>
            <a:off x="411480" y="2322576"/>
            <a:ext cx="8321040" cy="713232"/>
          </a:xfrm>
          <a:prstGeom prst="roundRect">
            <a:avLst>
              <a:gd name="adj" fmla="val 10256"/>
            </a:avLst>
          </a:prstGeom>
          <a:solidFill>
            <a:srgbClr val="1E2D6B"/>
          </a:solidFill>
          <a:ln w="6350">
            <a:solidFill>
              <a:srgbClr val="FFFFFF"/>
            </a:solidFill>
            <a:prstDash val="solid"/>
          </a:ln>
        </p:spPr>
        <p:txBody>
          <a:bodyPr/>
          <a:lstStyle/>
          <a:p>
            <a:endParaRPr lang="es-PE"/>
          </a:p>
        </p:txBody>
      </p:sp>
      <p:sp>
        <p:nvSpPr>
          <p:cNvPr id="10" name="Shape 8"/>
          <p:cNvSpPr/>
          <p:nvPr/>
        </p:nvSpPr>
        <p:spPr>
          <a:xfrm>
            <a:off x="566928" y="2496312"/>
            <a:ext cx="347472" cy="347472"/>
          </a:xfrm>
          <a:prstGeom prst="ellipse">
            <a:avLst/>
          </a:prstGeom>
          <a:solidFill>
            <a:srgbClr val="F5C842"/>
          </a:solidFill>
          <a:ln w="12700">
            <a:solidFill>
              <a:srgbClr val="F5C842"/>
            </a:solidFill>
            <a:prstDash val="solid"/>
          </a:ln>
        </p:spPr>
        <p:txBody>
          <a:bodyPr/>
          <a:lstStyle/>
          <a:p>
            <a:endParaRPr lang="es-PE"/>
          </a:p>
        </p:txBody>
      </p:sp>
      <p:sp>
        <p:nvSpPr>
          <p:cNvPr id="11" name="Text 9"/>
          <p:cNvSpPr/>
          <p:nvPr/>
        </p:nvSpPr>
        <p:spPr>
          <a:xfrm>
            <a:off x="566928" y="2496312"/>
            <a:ext cx="347472" cy="347472"/>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42416" y="2414016"/>
            <a:ext cx="713232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¿Qué situación?</a:t>
            </a:r>
            <a:endParaRPr lang="en-US" sz="1500" dirty="0"/>
          </a:p>
        </p:txBody>
      </p:sp>
      <p:sp>
        <p:nvSpPr>
          <p:cNvPr id="13" name="Text 11"/>
          <p:cNvSpPr/>
          <p:nvPr/>
        </p:nvSpPr>
        <p:spPr>
          <a:xfrm>
            <a:off x="1042416" y="2706624"/>
            <a:ext cx="7132320" cy="256032"/>
          </a:xfrm>
          <a:prstGeom prst="rect">
            <a:avLst/>
          </a:prstGeom>
          <a:noFill/>
          <a:ln/>
        </p:spPr>
        <p:txBody>
          <a:bodyPr wrap="square" lIns="0" tIns="0" rIns="0" bIns="0" rtlCol="0" anchor="ctr"/>
          <a:lstStyle/>
          <a:p>
            <a:pPr marL="0" indent="0">
              <a:buNone/>
            </a:pPr>
            <a:r>
              <a:rPr lang="en-US" sz="1200" dirty="0">
                <a:solidFill>
                  <a:srgbClr val="F5C842"/>
                </a:solidFill>
                <a:latin typeface="Calibri" pitchFamily="34" charset="0"/>
                <a:ea typeface="Calibri" pitchFamily="34" charset="-122"/>
                <a:cs typeface="Calibri" pitchFamily="34" charset="-120"/>
              </a:rPr>
              <a:t>A — Primer contacto  /  B — 'Lo pienso'  /  C — Lead frío  /  D — Soporte</a:t>
            </a:r>
            <a:endParaRPr lang="en-US" sz="1200" dirty="0"/>
          </a:p>
        </p:txBody>
      </p:sp>
      <p:sp>
        <p:nvSpPr>
          <p:cNvPr id="14" name="Shape 12"/>
          <p:cNvSpPr/>
          <p:nvPr/>
        </p:nvSpPr>
        <p:spPr>
          <a:xfrm>
            <a:off x="411480" y="3163824"/>
            <a:ext cx="8321040" cy="713232"/>
          </a:xfrm>
          <a:prstGeom prst="roundRect">
            <a:avLst>
              <a:gd name="adj" fmla="val 10256"/>
            </a:avLst>
          </a:prstGeom>
          <a:solidFill>
            <a:srgbClr val="1E2D6B"/>
          </a:solidFill>
          <a:ln w="6350">
            <a:solidFill>
              <a:srgbClr val="FFFFFF"/>
            </a:solidFill>
            <a:prstDash val="solid"/>
          </a:ln>
        </p:spPr>
        <p:txBody>
          <a:bodyPr/>
          <a:lstStyle/>
          <a:p>
            <a:endParaRPr lang="es-PE"/>
          </a:p>
        </p:txBody>
      </p:sp>
      <p:sp>
        <p:nvSpPr>
          <p:cNvPr id="15" name="Shape 13"/>
          <p:cNvSpPr/>
          <p:nvPr/>
        </p:nvSpPr>
        <p:spPr>
          <a:xfrm>
            <a:off x="566928" y="3337560"/>
            <a:ext cx="347472" cy="347472"/>
          </a:xfrm>
          <a:prstGeom prst="ellipse">
            <a:avLst/>
          </a:prstGeom>
          <a:solidFill>
            <a:srgbClr val="F5C842"/>
          </a:solidFill>
          <a:ln w="12700">
            <a:solidFill>
              <a:srgbClr val="F5C842"/>
            </a:solidFill>
            <a:prstDash val="solid"/>
          </a:ln>
        </p:spPr>
        <p:txBody>
          <a:bodyPr/>
          <a:lstStyle/>
          <a:p>
            <a:endParaRPr lang="es-PE"/>
          </a:p>
        </p:txBody>
      </p:sp>
      <p:sp>
        <p:nvSpPr>
          <p:cNvPr id="16" name="Text 14"/>
          <p:cNvSpPr/>
          <p:nvPr/>
        </p:nvSpPr>
        <p:spPr>
          <a:xfrm>
            <a:off x="566928" y="3337560"/>
            <a:ext cx="347472" cy="347472"/>
          </a:xfrm>
          <a:prstGeom prst="rect">
            <a:avLst/>
          </a:prstGeom>
          <a:noFill/>
          <a:ln/>
        </p:spPr>
        <p:txBody>
          <a:bodyPr wrap="square" lIns="0" tIns="0" rIns="0" bIns="0" rtlCol="0" anchor="ctr"/>
          <a:lstStyle/>
          <a:p>
            <a:pPr marL="0" indent="0" algn="ctr">
              <a:buNone/>
            </a:pPr>
            <a:r>
              <a:rPr lang="en-US" sz="1400" b="1" dirty="0">
                <a:solidFill>
                  <a:srgbClr val="121B3A"/>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042416" y="3255264"/>
            <a:ext cx="713232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¿Qué herramienta?</a:t>
            </a:r>
            <a:endParaRPr lang="en-US" sz="1500" dirty="0"/>
          </a:p>
        </p:txBody>
      </p:sp>
      <p:sp>
        <p:nvSpPr>
          <p:cNvPr id="18" name="Text 16"/>
          <p:cNvSpPr/>
          <p:nvPr/>
        </p:nvSpPr>
        <p:spPr>
          <a:xfrm>
            <a:off x="1042416" y="3547872"/>
            <a:ext cx="7132320" cy="256032"/>
          </a:xfrm>
          <a:prstGeom prst="rect">
            <a:avLst/>
          </a:prstGeom>
          <a:noFill/>
          <a:ln/>
        </p:spPr>
        <p:txBody>
          <a:bodyPr wrap="square" lIns="0" tIns="0" rIns="0" bIns="0" rtlCol="0" anchor="ctr"/>
          <a:lstStyle/>
          <a:p>
            <a:pPr marL="0" indent="0">
              <a:buNone/>
            </a:pPr>
            <a:r>
              <a:rPr lang="en-US" sz="1200" dirty="0">
                <a:solidFill>
                  <a:srgbClr val="F5C842"/>
                </a:solidFill>
                <a:latin typeface="Calibri" pitchFamily="34" charset="0"/>
                <a:ea typeface="Calibri" pitchFamily="34" charset="-122"/>
                <a:cs typeface="Calibri" pitchFamily="34" charset="-120"/>
              </a:rPr>
              <a:t>ChatGPT  o  Claude</a:t>
            </a:r>
            <a:endParaRPr lang="en-US" sz="1200" dirty="0"/>
          </a:p>
        </p:txBody>
      </p:sp>
      <p:sp>
        <p:nvSpPr>
          <p:cNvPr id="19" name="Shape 17"/>
          <p:cNvSpPr/>
          <p:nvPr/>
        </p:nvSpPr>
        <p:spPr>
          <a:xfrm>
            <a:off x="411480" y="4315968"/>
            <a:ext cx="8321040" cy="621792"/>
          </a:xfrm>
          <a:prstGeom prst="roundRect">
            <a:avLst>
              <a:gd name="adj" fmla="val 11765"/>
            </a:avLst>
          </a:prstGeom>
          <a:solidFill>
            <a:srgbClr val="F5C842"/>
          </a:solidFill>
          <a:ln w="12700">
            <a:solidFill>
              <a:srgbClr val="F5C842"/>
            </a:solidFill>
            <a:prstDash val="solid"/>
          </a:ln>
        </p:spPr>
        <p:txBody>
          <a:bodyPr/>
          <a:lstStyle/>
          <a:p>
            <a:endParaRPr lang="es-PE"/>
          </a:p>
        </p:txBody>
      </p:sp>
      <p:sp>
        <p:nvSpPr>
          <p:cNvPr id="20" name="Text 18"/>
          <p:cNvSpPr/>
          <p:nvPr/>
        </p:nvSpPr>
        <p:spPr>
          <a:xfrm>
            <a:off x="594360" y="4407408"/>
            <a:ext cx="7955280" cy="411480"/>
          </a:xfrm>
          <a:prstGeom prst="rect">
            <a:avLst/>
          </a:prstGeom>
          <a:noFill/>
          <a:ln/>
        </p:spPr>
        <p:txBody>
          <a:bodyPr wrap="square" lIns="0" tIns="0" rIns="0" bIns="0" rtlCol="0" anchor="ctr"/>
          <a:lstStyle/>
          <a:p>
            <a:pPr marL="0" indent="0" algn="ctr">
              <a:buNone/>
            </a:pPr>
            <a:r>
              <a:rPr lang="en-US" sz="1300" b="1" dirty="0">
                <a:solidFill>
                  <a:srgbClr val="121B3A"/>
                </a:solidFill>
                <a:latin typeface="Calibri" pitchFamily="34" charset="0"/>
                <a:ea typeface="Calibri" pitchFamily="34" charset="-122"/>
                <a:cs typeface="Calibri" pitchFamily="34" charset="-120"/>
              </a:rPr>
              <a:t>En la Sesión A2 revisamos resultados reales. Traer al menos un mensaje enviado con IA esta semana.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2030</Words>
  <Application>Microsoft Macintosh PowerPoint</Application>
  <PresentationFormat>Presentación en pantalla (16:9)</PresentationFormat>
  <Paragraphs>228</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IA - Sesion A1 - EEA</dc:title>
  <dc:subject>PptxGenJS Presentation</dc:subject>
  <dc:creator>Liliana Bayona Castaneda - Vitaminas Tecnologicas</dc:creator>
  <cp:lastModifiedBy>Liliana Bayona</cp:lastModifiedBy>
  <cp:revision>2</cp:revision>
  <dcterms:created xsi:type="dcterms:W3CDTF">2026-06-19T01:45:51Z</dcterms:created>
  <dcterms:modified xsi:type="dcterms:W3CDTF">2026-06-19T01:50:38Z</dcterms:modified>
</cp:coreProperties>
</file>